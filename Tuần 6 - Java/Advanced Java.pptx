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  <p:sldId id="276" r:id="rId19"/>
    <p:sldId id="272" r:id="rId20"/>
    <p:sldId id="273" r:id="rId21"/>
    <p:sldId id="274" r:id="rId22"/>
    <p:sldId id="277" r:id="rId23"/>
    <p:sldId id="278" r:id="rId24"/>
    <p:sldId id="279" r:id="rId25"/>
    <p:sldId id="313" r:id="rId26"/>
    <p:sldId id="314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2" r:id="rId35"/>
    <p:sldId id="288" r:id="rId36"/>
    <p:sldId id="289" r:id="rId37"/>
    <p:sldId id="290" r:id="rId38"/>
    <p:sldId id="291" r:id="rId39"/>
    <p:sldId id="292" r:id="rId40"/>
    <p:sldId id="294" r:id="rId41"/>
    <p:sldId id="293" r:id="rId42"/>
    <p:sldId id="296" r:id="rId43"/>
    <p:sldId id="297" r:id="rId44"/>
    <p:sldId id="298" r:id="rId45"/>
    <p:sldId id="299" r:id="rId46"/>
    <p:sldId id="295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7" r:id="rId61"/>
    <p:sldId id="318" r:id="rId62"/>
    <p:sldId id="315" r:id="rId63"/>
    <p:sldId id="316" r:id="rId64"/>
    <p:sldId id="320" r:id="rId65"/>
    <p:sldId id="319" r:id="rId66"/>
    <p:sldId id="321" r:id="rId67"/>
    <p:sldId id="323" r:id="rId68"/>
    <p:sldId id="322" r:id="rId69"/>
    <p:sldId id="333" r:id="rId70"/>
    <p:sldId id="325" r:id="rId71"/>
    <p:sldId id="326" r:id="rId72"/>
    <p:sldId id="327" r:id="rId73"/>
    <p:sldId id="328" r:id="rId74"/>
    <p:sldId id="337" r:id="rId75"/>
    <p:sldId id="332" r:id="rId76"/>
    <p:sldId id="324" r:id="rId77"/>
    <p:sldId id="329" r:id="rId78"/>
    <p:sldId id="335" r:id="rId79"/>
    <p:sldId id="330" r:id="rId80"/>
    <p:sldId id="336" r:id="rId81"/>
    <p:sldId id="331" r:id="rId82"/>
    <p:sldId id="334" r:id="rId83"/>
    <p:sldId id="338" r:id="rId84"/>
    <p:sldId id="339" r:id="rId85"/>
    <p:sldId id="340" r:id="rId86"/>
    <p:sldId id="341" r:id="rId87"/>
    <p:sldId id="342" r:id="rId88"/>
    <p:sldId id="343" r:id="rId89"/>
    <p:sldId id="347" r:id="rId90"/>
    <p:sldId id="344" r:id="rId91"/>
    <p:sldId id="345" r:id="rId92"/>
    <p:sldId id="346" r:id="rId93"/>
    <p:sldId id="349" r:id="rId94"/>
    <p:sldId id="350" r:id="rId95"/>
    <p:sldId id="351" r:id="rId96"/>
    <p:sldId id="352" r:id="rId9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79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1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46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9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5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11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0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DCE111F-D70A-48A8-948D-76A567D602FD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FBF142-45E8-4873-B6A8-53DBB9AB21C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09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5989-E877-984A-6F34-859EE1489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3"/>
            <a:ext cx="10058400" cy="2376134"/>
          </a:xfrm>
        </p:spPr>
        <p:txBody>
          <a:bodyPr/>
          <a:lstStyle/>
          <a:p>
            <a:pPr algn="ctr"/>
            <a:r>
              <a:rPr lang="en-US"/>
              <a:t>Advanced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10F28-4EB9-A050-55DC-8B16A7690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331" y="3877123"/>
            <a:ext cx="6679756" cy="1143000"/>
          </a:xfrm>
        </p:spPr>
        <p:txBody>
          <a:bodyPr/>
          <a:lstStyle/>
          <a:p>
            <a:r>
              <a:rPr lang="en-US"/>
              <a:t>Người thực hiện: nguyễn thanh tâm</a:t>
            </a:r>
          </a:p>
          <a:p>
            <a:r>
              <a:rPr lang="en-US"/>
              <a:t>Mentor hướng dẫn: trương minh tuấn</a:t>
            </a:r>
          </a:p>
        </p:txBody>
      </p:sp>
    </p:spTree>
    <p:extLst>
      <p:ext uri="{BB962C8B-B14F-4D97-AF65-F5344CB8AC3E}">
        <p14:creationId xmlns:p14="http://schemas.microsoft.com/office/powerpoint/2010/main" val="384108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087B-E85F-DBA0-D6EF-4D639F4F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74F6F-3B69-C3BB-C581-889B00B6EC99}"/>
              </a:ext>
            </a:extLst>
          </p:cNvPr>
          <p:cNvSpPr txBox="1"/>
          <p:nvPr/>
        </p:nvSpPr>
        <p:spPr>
          <a:xfrm>
            <a:off x="3716693" y="2183363"/>
            <a:ext cx="4758613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enum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OrderStatus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 b="1">
                <a:solidFill>
                  <a:srgbClr val="A9B7C6"/>
                </a:solidFill>
                <a:effectLst/>
                <a:latin typeface="JetBrains Mono"/>
              </a:rPr>
              <a:t>    </a:t>
            </a:r>
          </a:p>
          <a:p>
            <a:r>
              <a:rPr lang="en-US" sz="1800" b="1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 b="1">
                <a:solidFill>
                  <a:srgbClr val="808080"/>
                </a:solidFill>
                <a:effectLst/>
                <a:latin typeface="JetBrains Mono"/>
              </a:rPr>
              <a:t>// VALUE               			// ORDINAL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WAITING_CONFIRMATION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0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WAITING_PICKUP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1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IN_PROGRESS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   	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2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DELIVERED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     	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3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COMPLETED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     	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4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CANCELED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      	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5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RETURNED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              	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6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REFUND_SUCCESSFUL       		</a:t>
            </a:r>
            <a:r>
              <a:rPr lang="en-US" sz="1800">
                <a:solidFill>
                  <a:srgbClr val="808080"/>
                </a:solidFill>
                <a:effectLst/>
                <a:latin typeface="JetBrains Mono"/>
              </a:rPr>
              <a:t>// ordinal 7</a:t>
            </a: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3678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76B4-9C04-5705-6E77-FEF1BB87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97C8-B924-3B9B-624C-F09D19157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385" y="2938014"/>
            <a:ext cx="7447229" cy="981971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()  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  <a:sym typeface="Wingdings" panose="05000000000000000000" pitchFamily="2" charset="2"/>
              </a:rPr>
              <a:t> </a:t>
            </a:r>
            <a:r>
              <a:rPr lang="en-US" sz="24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808080"/>
                </a:solidFill>
                <a:effectLst/>
                <a:latin typeface="JetBrains Mono"/>
              </a:rPr>
              <a:t>EnumType.ORDINAL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) </a:t>
            </a:r>
          </a:p>
          <a:p>
            <a:r>
              <a:rPr lang="en-US" sz="24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808080"/>
                </a:solidFill>
                <a:effectLst/>
                <a:latin typeface="JetBrains Mono"/>
              </a:rPr>
              <a:t>EnumType.STRING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85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487-30BE-B7C0-2868-E78A656F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49095"/>
          </a:xfrm>
        </p:spPr>
        <p:txBody>
          <a:bodyPr/>
          <a:lstStyle/>
          <a:p>
            <a:r>
              <a:rPr lang="en-US"/>
              <a:t>Enum - Enumerated()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23EF5-E070-934F-980F-5D110785C34C}"/>
              </a:ext>
            </a:extLst>
          </p:cNvPr>
          <p:cNvSpPr txBox="1"/>
          <p:nvPr/>
        </p:nvSpPr>
        <p:spPr>
          <a:xfrm>
            <a:off x="658742" y="1231639"/>
            <a:ext cx="5707224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OrderStatus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status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.setStatus(OrderStatus.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WAITING_CONFIRMATION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setStatus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(OrderStatus status)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status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status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ED408-1E1B-BEBF-D1EC-A73EC192DB39}"/>
              </a:ext>
            </a:extLst>
          </p:cNvPr>
          <p:cNvSpPr txBox="1"/>
          <p:nvPr/>
        </p:nvSpPr>
        <p:spPr>
          <a:xfrm>
            <a:off x="6532050" y="1231639"/>
            <a:ext cx="5001208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OrderService orderService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order1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order2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order1 = orderService.save(order1)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order2 = orderService.save(order2)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orderService.findAll().forEach(order -&gt; 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.println(order))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order1.setStatus(OrderStatus.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COMPLETED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orderService.save(order1)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orderService.findAll().forEach(order -&gt; 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.println(order))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06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9B7D-B08D-3153-EEBE-C5980F3C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Enum – Enumerated()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A5418-014A-8C1A-E709-4CDC4D038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7747"/>
          <a:stretch/>
        </p:blipFill>
        <p:spPr>
          <a:xfrm>
            <a:off x="857133" y="3182378"/>
            <a:ext cx="4323619" cy="16218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31644-0C26-2900-4428-110B82CF7DF0}"/>
              </a:ext>
            </a:extLst>
          </p:cNvPr>
          <p:cNvSpPr txBox="1"/>
          <p:nvPr/>
        </p:nvSpPr>
        <p:spPr>
          <a:xfrm>
            <a:off x="231709" y="2653048"/>
            <a:ext cx="562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SELECT * FROM dbdemo.orders;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33A7B-7558-7970-F084-DDF2E0CCA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136" y="2699314"/>
            <a:ext cx="5897478" cy="210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8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DC47-9F82-6D62-9606-AC334E67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/>
              <a:t>Enum – Enumeration(EnumType.STRING)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3E7-DD93-7BE6-3D4D-FC9CB6101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2DAB4-C058-0901-13F3-CD60A0689C3A}"/>
              </a:ext>
            </a:extLst>
          </p:cNvPr>
          <p:cNvSpPr txBox="1"/>
          <p:nvPr/>
        </p:nvSpPr>
        <p:spPr>
          <a:xfrm>
            <a:off x="658742" y="1231639"/>
            <a:ext cx="5707224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(EnumType.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STRING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 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OrderStatus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status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.setStatus(OrderStatus.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WAITING_CONFIRMATION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setStatus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(OrderStatus status)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status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status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EE983-7367-D988-CBAF-146C7A638AB7}"/>
              </a:ext>
            </a:extLst>
          </p:cNvPr>
          <p:cNvSpPr txBox="1"/>
          <p:nvPr/>
        </p:nvSpPr>
        <p:spPr>
          <a:xfrm>
            <a:off x="6532050" y="1231639"/>
            <a:ext cx="5001208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OrderService orderService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order1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order2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order1 = orderService.save(order1)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order2 = orderService.save(order2)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orderService.findAll().forEach(order -&gt; 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.println(order))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order1.setStatus(OrderStatus.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COMPLETED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orderService.save(order1)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orderService.findAll().forEach(order -&gt; 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.println(order))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427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BE0B-AC1C-177E-20B2-931B961C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Enum – Enumerated()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2CCF0-A668-8734-5C23-82C0101AD9CE}"/>
              </a:ext>
            </a:extLst>
          </p:cNvPr>
          <p:cNvSpPr txBox="1"/>
          <p:nvPr/>
        </p:nvSpPr>
        <p:spPr>
          <a:xfrm>
            <a:off x="147733" y="2485568"/>
            <a:ext cx="562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SELECT * FROM dbdemo.orders;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6D4A4-7F30-C848-C2B8-1B11D6B3F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51" y="3429000"/>
            <a:ext cx="4401726" cy="1450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ADF7B-9208-A6C0-E9DE-8A302FC5A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607" y="2716400"/>
            <a:ext cx="6167297" cy="220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A8F91E38-1D0F-A0A9-0693-ABDAC902F1CA}"/>
              </a:ext>
            </a:extLst>
          </p:cNvPr>
          <p:cNvSpPr/>
          <p:nvPr/>
        </p:nvSpPr>
        <p:spPr>
          <a:xfrm rot="5400000">
            <a:off x="3824422" y="1776354"/>
            <a:ext cx="1250302" cy="3566550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BE20F-6B9C-4BA5-6802-D4F60F7B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Sử dụng ORDINAL hay STRING?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C2CE7-83D5-28AC-6E29-A4F856926E8C}"/>
              </a:ext>
            </a:extLst>
          </p:cNvPr>
          <p:cNvSpPr/>
          <p:nvPr/>
        </p:nvSpPr>
        <p:spPr>
          <a:xfrm>
            <a:off x="2970831" y="3097964"/>
            <a:ext cx="27606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ORDINAL</a:t>
            </a:r>
          </a:p>
        </p:txBody>
      </p:sp>
      <p:sp>
        <p:nvSpPr>
          <p:cNvPr id="7" name="Flowchart: Manual Input 6">
            <a:extLst>
              <a:ext uri="{FF2B5EF4-FFF2-40B4-BE49-F238E27FC236}">
                <a16:creationId xmlns:a16="http://schemas.microsoft.com/office/drawing/2014/main" id="{9032F5AE-15A4-0558-A888-5DF99844F46D}"/>
              </a:ext>
            </a:extLst>
          </p:cNvPr>
          <p:cNvSpPr/>
          <p:nvPr/>
        </p:nvSpPr>
        <p:spPr>
          <a:xfrm rot="5400000" flipH="1" flipV="1">
            <a:off x="6738684" y="1776354"/>
            <a:ext cx="1250302" cy="3566550"/>
          </a:xfrm>
          <a:prstGeom prst="flowChartManualInpu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50272E-54A5-A404-DADE-C1B5FF2E5C82}"/>
              </a:ext>
            </a:extLst>
          </p:cNvPr>
          <p:cNvSpPr/>
          <p:nvPr/>
        </p:nvSpPr>
        <p:spPr>
          <a:xfrm>
            <a:off x="6373945" y="3097964"/>
            <a:ext cx="22718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65431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2E9C8-B1D1-CA64-5727-5EA183E6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BF1E-97BF-0477-8D54-3DBFB52F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754" y="2479940"/>
            <a:ext cx="8858483" cy="2959807"/>
          </a:xfrm>
        </p:spPr>
        <p:txBody>
          <a:bodyPr>
            <a:normAutofit lnSpcReduction="10000"/>
          </a:bodyPr>
          <a:lstStyle/>
          <a:p>
            <a:r>
              <a:rPr lang="en-US" sz="2800"/>
              <a:t>Tạo dữ liệu tự động</a:t>
            </a:r>
          </a:p>
          <a:p>
            <a:r>
              <a:rPr lang="en-US" sz="2400">
                <a:solidFill>
                  <a:srgbClr val="BBB529"/>
                </a:solidFill>
                <a:effectLst/>
                <a:latin typeface="JetBrains Mono"/>
              </a:rPr>
              <a:t>@GeneratedValue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(strategy, generator)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2400"/>
              <a:t> GenerationType.IDENTITY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2400"/>
              <a:t> GenerationType.SEQUENCE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/>
              <a:t>GenerationType.UUID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2400"/>
              <a:t> GenerationType.AUTO (default)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2400"/>
              <a:t> Custom Generator</a:t>
            </a:r>
          </a:p>
        </p:txBody>
      </p:sp>
    </p:spTree>
    <p:extLst>
      <p:ext uri="{BB962C8B-B14F-4D97-AF65-F5344CB8AC3E}">
        <p14:creationId xmlns:p14="http://schemas.microsoft.com/office/powerpoint/2010/main" val="261090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EFEC-E7AB-9B2B-F97F-A72DEF10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532B-AD47-8F10-A98C-9964A92B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81943"/>
            <a:ext cx="10058400" cy="1110344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BBB529"/>
                </a:solidFill>
                <a:effectLst/>
                <a:latin typeface="JetBrains Mono"/>
              </a:rPr>
              <a:t>@GeneratedValue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2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lang="en-US" sz="2800"/>
          </a:p>
          <a:p>
            <a:r>
              <a:rPr lang="en-US" sz="2800"/>
              <a:t>Tạo dữ liệu dạng số nguyên tăng dần bắt đầu từ 1</a:t>
            </a:r>
          </a:p>
        </p:txBody>
      </p:sp>
    </p:spTree>
    <p:extLst>
      <p:ext uri="{BB962C8B-B14F-4D97-AF65-F5344CB8AC3E}">
        <p14:creationId xmlns:p14="http://schemas.microsoft.com/office/powerpoint/2010/main" val="50974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2749-0376-237D-6CDC-9ACE161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3E53E-83BD-5939-A131-2FAB1AC6A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917" y="2797318"/>
            <a:ext cx="5658083" cy="2323323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10B9-DC61-04DB-DDAC-C97B7DD6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736" y="2797318"/>
            <a:ext cx="3000848" cy="199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6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0A8D-EA09-676B-B7DB-BD854620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Delete Item IDENTITY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121DA5C-A6E1-F211-6961-BAABEECDE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94546"/>
              </p:ext>
            </p:extLst>
          </p:nvPr>
        </p:nvGraphicFramePr>
        <p:xfrm>
          <a:off x="1097280" y="2277878"/>
          <a:ext cx="59736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16">
                  <a:extLst>
                    <a:ext uri="{9D8B030D-6E8A-4147-A177-3AD203B41FA5}">
                      <a16:colId xmlns:a16="http://schemas.microsoft.com/office/drawing/2014/main" val="451851044"/>
                    </a:ext>
                  </a:extLst>
                </a:gridCol>
                <a:gridCol w="1493416">
                  <a:extLst>
                    <a:ext uri="{9D8B030D-6E8A-4147-A177-3AD203B41FA5}">
                      <a16:colId xmlns:a16="http://schemas.microsoft.com/office/drawing/2014/main" val="421743138"/>
                    </a:ext>
                  </a:extLst>
                </a:gridCol>
                <a:gridCol w="1493416">
                  <a:extLst>
                    <a:ext uri="{9D8B030D-6E8A-4147-A177-3AD203B41FA5}">
                      <a16:colId xmlns:a16="http://schemas.microsoft.com/office/drawing/2014/main" val="4065748337"/>
                    </a:ext>
                  </a:extLst>
                </a:gridCol>
                <a:gridCol w="1493416">
                  <a:extLst>
                    <a:ext uri="{9D8B030D-6E8A-4147-A177-3AD203B41FA5}">
                      <a16:colId xmlns:a16="http://schemas.microsoft.com/office/drawing/2014/main" val="419515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0925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64A4AA-3F39-2BB9-2C1B-DB527DBEE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603646"/>
              </p:ext>
            </p:extLst>
          </p:nvPr>
        </p:nvGraphicFramePr>
        <p:xfrm>
          <a:off x="1097280" y="3243580"/>
          <a:ext cx="44802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16">
                  <a:extLst>
                    <a:ext uri="{9D8B030D-6E8A-4147-A177-3AD203B41FA5}">
                      <a16:colId xmlns:a16="http://schemas.microsoft.com/office/drawing/2014/main" val="451851044"/>
                    </a:ext>
                  </a:extLst>
                </a:gridCol>
                <a:gridCol w="1493416">
                  <a:extLst>
                    <a:ext uri="{9D8B030D-6E8A-4147-A177-3AD203B41FA5}">
                      <a16:colId xmlns:a16="http://schemas.microsoft.com/office/drawing/2014/main" val="421743138"/>
                    </a:ext>
                  </a:extLst>
                </a:gridCol>
                <a:gridCol w="1493416">
                  <a:extLst>
                    <a:ext uri="{9D8B030D-6E8A-4147-A177-3AD203B41FA5}">
                      <a16:colId xmlns:a16="http://schemas.microsoft.com/office/drawing/2014/main" val="4065748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09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C0C9FAE-6D74-87A2-920D-EC1EAF617A4B}"/>
              </a:ext>
            </a:extLst>
          </p:cNvPr>
          <p:cNvSpPr txBox="1"/>
          <p:nvPr/>
        </p:nvSpPr>
        <p:spPr>
          <a:xfrm>
            <a:off x="985313" y="2874248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Delete Item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A2207-0F5B-E2B3-5C9C-63F171D4D2BA}"/>
              </a:ext>
            </a:extLst>
          </p:cNvPr>
          <p:cNvSpPr txBox="1"/>
          <p:nvPr/>
        </p:nvSpPr>
        <p:spPr>
          <a:xfrm>
            <a:off x="985313" y="3858192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Insert New Item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5CB9A0-0C61-E76F-C712-3E9B8EBF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54327"/>
              </p:ext>
            </p:extLst>
          </p:nvPr>
        </p:nvGraphicFramePr>
        <p:xfrm>
          <a:off x="1097279" y="4285876"/>
          <a:ext cx="74402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046">
                  <a:extLst>
                    <a:ext uri="{9D8B030D-6E8A-4147-A177-3AD203B41FA5}">
                      <a16:colId xmlns:a16="http://schemas.microsoft.com/office/drawing/2014/main" val="451851044"/>
                    </a:ext>
                  </a:extLst>
                </a:gridCol>
                <a:gridCol w="1488046">
                  <a:extLst>
                    <a:ext uri="{9D8B030D-6E8A-4147-A177-3AD203B41FA5}">
                      <a16:colId xmlns:a16="http://schemas.microsoft.com/office/drawing/2014/main" val="421743138"/>
                    </a:ext>
                  </a:extLst>
                </a:gridCol>
                <a:gridCol w="1488046">
                  <a:extLst>
                    <a:ext uri="{9D8B030D-6E8A-4147-A177-3AD203B41FA5}">
                      <a16:colId xmlns:a16="http://schemas.microsoft.com/office/drawing/2014/main" val="4065748337"/>
                    </a:ext>
                  </a:extLst>
                </a:gridCol>
                <a:gridCol w="1488046">
                  <a:extLst>
                    <a:ext uri="{9D8B030D-6E8A-4147-A177-3AD203B41FA5}">
                      <a16:colId xmlns:a16="http://schemas.microsoft.com/office/drawing/2014/main" val="1783869505"/>
                    </a:ext>
                  </a:extLst>
                </a:gridCol>
                <a:gridCol w="1488046">
                  <a:extLst>
                    <a:ext uri="{9D8B030D-6E8A-4147-A177-3AD203B41FA5}">
                      <a16:colId xmlns:a16="http://schemas.microsoft.com/office/drawing/2014/main" val="2598639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0925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9AA3E04-CC51-4456-156D-FDD674A51750}"/>
              </a:ext>
            </a:extLst>
          </p:cNvPr>
          <p:cNvSpPr/>
          <p:nvPr/>
        </p:nvSpPr>
        <p:spPr>
          <a:xfrm>
            <a:off x="985313" y="5107642"/>
            <a:ext cx="644240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>
                <a:ln w="0"/>
                <a:solidFill>
                  <a:srgbClr val="FF0000"/>
                </a:solidFill>
              </a:rPr>
              <a:t>Vấn đề vượt quá giới hạn kiểu dữ liệu</a:t>
            </a:r>
          </a:p>
        </p:txBody>
      </p:sp>
    </p:spTree>
    <p:extLst>
      <p:ext uri="{BB962C8B-B14F-4D97-AF65-F5344CB8AC3E}">
        <p14:creationId xmlns:p14="http://schemas.microsoft.com/office/powerpoint/2010/main" val="265813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5A71-9907-00D5-FAE8-59643507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UUID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29191D-6DDC-164F-D25D-B6118453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074" y="2139474"/>
            <a:ext cx="5937850" cy="2296529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	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	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UUID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	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UUID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C8F11-D665-6D38-E8DE-71A5CFCC3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98" y="4838117"/>
            <a:ext cx="9573202" cy="79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7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B98F-6C57-898B-DA6F-99BB1530B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</a:t>
            </a:r>
            <a:r>
              <a:rPr lang="en-US" sz="4800"/>
              <a:t>SEQUENCE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4FAE-57A3-A2DC-B55C-1DDF5A597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521" y="1827073"/>
            <a:ext cx="9567610" cy="4023360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@GenericGenerator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    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"sequence-generator"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strategy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"org.hibernate.id.enhanced.SequenceStyleGenerator"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parameters =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@org.hibernate.annotations.Parameter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"sequence_name"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value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"order_sequence"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@org.hibernate.annotations.Parameter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"initial_value"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value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"5"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@org.hibernate.annotations.Parameter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"increment_size"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value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"1"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    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SEQUENCE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generator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"sequence-generator"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 sz="2000"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51B7AF-CD09-EC56-0FFB-D325379BDAC6}"/>
              </a:ext>
            </a:extLst>
          </p:cNvPr>
          <p:cNvCxnSpPr/>
          <p:nvPr/>
        </p:nvCxnSpPr>
        <p:spPr>
          <a:xfrm>
            <a:off x="4879910" y="3181739"/>
            <a:ext cx="3321698" cy="153955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5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B57E-AE57-1DEC-A6A3-28CBC2D9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</a:t>
            </a:r>
            <a:r>
              <a:rPr lang="en-US" sz="4800"/>
              <a:t>SEQUENCE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EBBF7E-E5B6-71B0-4BD8-3B64677F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58682"/>
            <a:ext cx="3854702" cy="2795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CDA2F3-F61C-1937-4138-8AE933F1C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621" y="3429000"/>
            <a:ext cx="5308090" cy="2647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E07DEE-6C8C-341E-CA62-165CB61B0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02978"/>
            <a:ext cx="4030351" cy="136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03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DB99-52CD-A1F2-605B-CAD21EA0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Auto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AFEA-6419-E6F4-C58C-72F4A620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36" y="2300795"/>
            <a:ext cx="5135569" cy="906797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AUTO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09CA59-31B8-61BB-F985-2E53147424EC}"/>
              </a:ext>
            </a:extLst>
          </p:cNvPr>
          <p:cNvSpPr txBox="1">
            <a:spLocks/>
          </p:cNvSpPr>
          <p:nvPr/>
        </p:nvSpPr>
        <p:spPr>
          <a:xfrm>
            <a:off x="725536" y="3700390"/>
            <a:ext cx="5135569" cy="9067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BBB529"/>
                </a:solidFill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latin typeface="JetBrains Mono"/>
              </a:rPr>
              <a:t>@GeneratedValue</a:t>
            </a:r>
            <a:r>
              <a:rPr lang="en-US" sz="1800">
                <a:solidFill>
                  <a:srgbClr val="A9B7C6"/>
                </a:solidFill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latin typeface="JetBrains Mono"/>
              </a:rPr>
              <a:t>AUTO</a:t>
            </a:r>
            <a:r>
              <a:rPr lang="en-US" sz="1800">
                <a:solidFill>
                  <a:srgbClr val="A9B7C6"/>
                </a:solidFill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latin typeface="JetBrains Mono"/>
              </a:rPr>
              <a:t>;</a:t>
            </a:r>
            <a:endParaRPr lang="en-US" sz="1800">
              <a:solidFill>
                <a:srgbClr val="A9B7C6"/>
              </a:solidFill>
              <a:latin typeface="JetBrains Mono"/>
            </a:endParaRPr>
          </a:p>
          <a:p>
            <a:pPr marL="0" indent="0">
              <a:buFont typeface="Calibri" panose="020F0502020204030204" pitchFamily="34" charset="0"/>
              <a:buNone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48425F-17EB-994B-45D0-C2F2C29B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6" y="4818757"/>
            <a:ext cx="9349749" cy="7314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322D8-F853-4306-95EB-FAD43D1E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88489"/>
            <a:ext cx="5846813" cy="90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38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CB4E-8159-A67C-8D26-AC94CDC9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 Custom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56FF-F0B7-6975-3586-576C49134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43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4033-2C4C-2759-BA2D-879869B7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1A490-08F0-5B8F-DCA0-FF561E52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58918"/>
            <a:ext cx="10058400" cy="505580"/>
          </a:xfrm>
        </p:spPr>
        <p:txBody>
          <a:bodyPr>
            <a:normAutofit/>
          </a:bodyPr>
          <a:lstStyle/>
          <a:p>
            <a:r>
              <a:rPr lang="en-US" sz="2800"/>
              <a:t>Làm thế nào để lấy ra một record với filed generate?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883CC-310F-740D-10F9-BF7D1A44BA64}"/>
              </a:ext>
            </a:extLst>
          </p:cNvPr>
          <p:cNvSpPr txBox="1"/>
          <p:nvPr/>
        </p:nvSpPr>
        <p:spPr>
          <a:xfrm>
            <a:off x="1287624" y="3987656"/>
            <a:ext cx="5243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findById(&lt;id&gt;)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53D7A-0B9C-B603-77D7-3503D9882047}"/>
              </a:ext>
            </a:extLst>
          </p:cNvPr>
          <p:cNvSpPr txBox="1"/>
          <p:nvPr/>
        </p:nvSpPr>
        <p:spPr>
          <a:xfrm>
            <a:off x="1287624" y="4521537"/>
            <a:ext cx="5243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findAll()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68DEB-CDE9-DB53-BBBD-0D189CF3C02B}"/>
              </a:ext>
            </a:extLst>
          </p:cNvPr>
          <p:cNvSpPr txBox="1"/>
          <p:nvPr/>
        </p:nvSpPr>
        <p:spPr>
          <a:xfrm>
            <a:off x="1097280" y="2976948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Có một Product có id được tạo tự động. Sau khi create một product làm thế nào để query lấy ra product đó hiển thị lên giao diện</a:t>
            </a:r>
          </a:p>
        </p:txBody>
      </p:sp>
    </p:spTree>
    <p:extLst>
      <p:ext uri="{BB962C8B-B14F-4D97-AF65-F5344CB8AC3E}">
        <p14:creationId xmlns:p14="http://schemas.microsoft.com/office/powerpoint/2010/main" val="3620515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A5A4-6115-A8F0-C55E-DAF7E2D0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F3C4-ED9B-990C-E057-D461B46A1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082" y="2267339"/>
            <a:ext cx="8136294" cy="1161662"/>
          </a:xfrm>
        </p:spPr>
        <p:txBody>
          <a:bodyPr>
            <a:normAutofit/>
          </a:bodyPr>
          <a:lstStyle/>
          <a:p>
            <a:pPr marL="0" indent="0" hangingPunct="1">
              <a:buNone/>
            </a:pPr>
            <a:r>
              <a:rPr lang="en-US" sz="2800"/>
              <a:t>Single primary key</a:t>
            </a:r>
          </a:p>
          <a:p>
            <a:pPr marL="0" indent="0" hangingPunct="1">
              <a:buNone/>
            </a:pPr>
            <a:r>
              <a:rPr lang="en-US" sz="2800"/>
              <a:t>Multiple primary key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01604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1651-9873-29D6-D050-0965AF9A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 – Single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9190F-B48E-49B4-AFF8-F1BC7491AEBC}"/>
              </a:ext>
            </a:extLst>
          </p:cNvPr>
          <p:cNvSpPr txBox="1"/>
          <p:nvPr/>
        </p:nvSpPr>
        <p:spPr>
          <a:xfrm>
            <a:off x="3242388" y="3001848"/>
            <a:ext cx="5707224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 {</a:t>
            </a:r>
          </a:p>
          <a:p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14755-A868-2D8C-2D1C-903D13F40DD5}"/>
              </a:ext>
            </a:extLst>
          </p:cNvPr>
          <p:cNvSpPr/>
          <p:nvPr/>
        </p:nvSpPr>
        <p:spPr>
          <a:xfrm>
            <a:off x="5424982" y="1907939"/>
            <a:ext cx="1342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@Id</a:t>
            </a:r>
          </a:p>
        </p:txBody>
      </p:sp>
    </p:spTree>
    <p:extLst>
      <p:ext uri="{BB962C8B-B14F-4D97-AF65-F5344CB8AC3E}">
        <p14:creationId xmlns:p14="http://schemas.microsoft.com/office/powerpoint/2010/main" val="391223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A62F-BCE6-C989-34E3-84E302CF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 - Multiple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B6DB-7ACB-5B6E-556E-F55B911B0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84" y="2326894"/>
            <a:ext cx="5029200" cy="3946988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@Embeddable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OrderDetailId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implements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Serializable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productId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OrderDetailId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long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long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productId)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orderId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productId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productId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OrderDetailId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AD921-392E-09B3-A764-DD1C57676389}"/>
              </a:ext>
            </a:extLst>
          </p:cNvPr>
          <p:cNvSpPr txBox="1"/>
          <p:nvPr/>
        </p:nvSpPr>
        <p:spPr>
          <a:xfrm>
            <a:off x="513184" y="1832072"/>
            <a:ext cx="4823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Cách 1: Sử dụng Embedable và EmbeddedId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AD129-06AD-13E0-39E7-A6D430787164}"/>
              </a:ext>
            </a:extLst>
          </p:cNvPr>
          <p:cNvSpPr txBox="1"/>
          <p:nvPr/>
        </p:nvSpPr>
        <p:spPr>
          <a:xfrm>
            <a:off x="5980922" y="2303564"/>
            <a:ext cx="5374433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"order_details"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@EmbeddedId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OrderDetailId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orderDetailId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(OrderDetailId orderDetailId)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orderDetailId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orderDetailId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0233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E398-0818-5C7F-DB5E-C5F928E7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 - Multiple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86DB0-DEA1-3339-3647-CBDABFA5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925" y="2542437"/>
            <a:ext cx="5154230" cy="3060441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 orderDetailService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 orderDetail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OrderDetail(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OrderDetailId(</a:t>
            </a:r>
            <a:r>
              <a:rPr lang="en-US" sz="180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orderDetailService.save(orderDetail)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</a:p>
          <a:p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4B72A-FC4F-DABF-2015-59A85D99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274" y="3117722"/>
            <a:ext cx="4520966" cy="159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94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2D89-F0B5-D4A1-F25B-62226959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 - Multiple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B3E8A-937A-780C-A422-4310D4BC3B42}"/>
              </a:ext>
            </a:extLst>
          </p:cNvPr>
          <p:cNvSpPr txBox="1"/>
          <p:nvPr/>
        </p:nvSpPr>
        <p:spPr>
          <a:xfrm>
            <a:off x="559837" y="1925378"/>
            <a:ext cx="4823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Cách 2: Sử dụng Embedable và IdClass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9AE87-9298-6497-6A79-B5B75F325F66}"/>
              </a:ext>
            </a:extLst>
          </p:cNvPr>
          <p:cNvSpPr txBox="1"/>
          <p:nvPr/>
        </p:nvSpPr>
        <p:spPr>
          <a:xfrm>
            <a:off x="559837" y="2789853"/>
            <a:ext cx="5197151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@Embeddable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OrderDetailId2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implements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Serializable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productId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DD252-8716-14D8-34F3-96D62020D04A}"/>
              </a:ext>
            </a:extLst>
          </p:cNvPr>
          <p:cNvSpPr txBox="1"/>
          <p:nvPr/>
        </p:nvSpPr>
        <p:spPr>
          <a:xfrm>
            <a:off x="5896947" y="1502688"/>
            <a:ext cx="6064898" cy="53553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"order_details"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@IdClass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(OrderDetailId2.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class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8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    @Column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productId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    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long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long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productId)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orderId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orderId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productId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= productId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9922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13BB-BF7E-1FB5-D84E-2C2921C1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Primary Key - Multiple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1A11-0E9E-8883-7F96-12C149C05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9884"/>
            <a:ext cx="7178973" cy="2674084"/>
          </a:xfr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Main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OrderService orderService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 orderDetailService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 orderDetail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OrderDetail(</a:t>
            </a:r>
            <a:r>
              <a:rPr lang="en-US" sz="180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orderDetailService.save(orderDetail)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AA3D9-7CED-761B-0596-0F624725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639" y="4777274"/>
            <a:ext cx="3875309" cy="145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14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8A61-6070-830B-5C48-3777FF94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– 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E8D2-8A2A-5E38-808C-BF9AEC671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4072"/>
            <a:ext cx="10058400" cy="38350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Không sử dụng IdClass, EmbeddedId có được không?</a:t>
            </a:r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355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D665-18AF-9C3C-46D6-0B262B32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861AC-977B-620F-563E-511F79636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52734"/>
            <a:ext cx="10058400" cy="381635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Tại sao phải sử dụng @IdClass @EmbeddedId?</a:t>
            </a:r>
          </a:p>
        </p:txBody>
      </p:sp>
    </p:spTree>
    <p:extLst>
      <p:ext uri="{BB962C8B-B14F-4D97-AF65-F5344CB8AC3E}">
        <p14:creationId xmlns:p14="http://schemas.microsoft.com/office/powerpoint/2010/main" val="2887347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CC88-28F9-241F-E8CC-1146F6A0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6B25-154C-16D6-7B94-EBA9E993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133" y="2088330"/>
            <a:ext cx="2924214" cy="990772"/>
          </a:xfrm>
        </p:spPr>
        <p:txBody>
          <a:bodyPr/>
          <a:lstStyle/>
          <a:p>
            <a:r>
              <a:rPr lang="en-US"/>
              <a:t>1 Way</a:t>
            </a:r>
          </a:p>
          <a:p>
            <a:r>
              <a:rPr lang="en-US"/>
              <a:t>2 Way</a:t>
            </a:r>
          </a:p>
        </p:txBody>
      </p:sp>
    </p:spTree>
    <p:extLst>
      <p:ext uri="{BB962C8B-B14F-4D97-AF65-F5344CB8AC3E}">
        <p14:creationId xmlns:p14="http://schemas.microsoft.com/office/powerpoint/2010/main" val="3839011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B9936-508F-9EA3-448C-0BF4FA08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B5AB1-D8BF-5774-55E8-49F1908C1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43487" cy="365621"/>
          </a:xfrm>
        </p:spPr>
        <p:txBody>
          <a:bodyPr>
            <a:normAutofit lnSpcReduction="10000"/>
          </a:bodyPr>
          <a:lstStyle/>
          <a:p>
            <a:r>
              <a:rPr lang="en-US"/>
              <a:t>1 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A8A23-5C87-A64E-8CF8-CAB45703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19729"/>
            <a:ext cx="4946539" cy="1858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AAEA4B-EF32-6A87-8EED-BC06AF533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769" y="4049918"/>
            <a:ext cx="4743839" cy="2231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7C92F9-C0EC-6697-D372-015A2CB6E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67" y="2034198"/>
            <a:ext cx="4762913" cy="2347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A84C2E-A2FD-A7AC-1E19-D7C00F9F5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767" y="4246415"/>
            <a:ext cx="4770533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29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4A85-21D8-660E-0DEC-6261FFA1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One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DF2E8A-219B-0028-CA2C-05A47B876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029" y="82600"/>
            <a:ext cx="4403651" cy="16547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3B70AB-FE7F-679B-B42D-F3788ACCA373}"/>
              </a:ext>
            </a:extLst>
          </p:cNvPr>
          <p:cNvSpPr txBox="1"/>
          <p:nvPr/>
        </p:nvSpPr>
        <p:spPr>
          <a:xfrm>
            <a:off x="1227909" y="1867988"/>
            <a:ext cx="4781006" cy="48320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"full_name"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@OneToOne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"accountId"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Account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account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Account account)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setFullName(fullName)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setAccount(account)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  <a:p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E309B-16DF-EB0B-BC31-6B0B574CFFDA}"/>
              </a:ext>
            </a:extLst>
          </p:cNvPr>
          <p:cNvSpPr txBox="1"/>
          <p:nvPr/>
        </p:nvSpPr>
        <p:spPr>
          <a:xfrm>
            <a:off x="6263951" y="1941363"/>
            <a:ext cx="4781006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"accounts"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Account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password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Account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Account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username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password)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setUsername(username)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setPassword(password)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2E8E4B-0507-6F30-CD20-92D751E89677}"/>
              </a:ext>
            </a:extLst>
          </p:cNvPr>
          <p:cNvSpPr/>
          <p:nvPr/>
        </p:nvSpPr>
        <p:spPr>
          <a:xfrm>
            <a:off x="10814179" y="6334780"/>
            <a:ext cx="184733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Ex10</a:t>
            </a:r>
          </a:p>
        </p:txBody>
      </p:sp>
    </p:spTree>
    <p:extLst>
      <p:ext uri="{BB962C8B-B14F-4D97-AF65-F5344CB8AC3E}">
        <p14:creationId xmlns:p14="http://schemas.microsoft.com/office/powerpoint/2010/main" val="3427162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5224-5CAA-BC9B-CFEC-C5D703D1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4205F-20DA-FF2F-D9B7-BB8438953B6C}"/>
              </a:ext>
            </a:extLst>
          </p:cNvPr>
          <p:cNvSpPr txBox="1"/>
          <p:nvPr/>
        </p:nvSpPr>
        <p:spPr>
          <a:xfrm>
            <a:off x="4299080" y="286603"/>
            <a:ext cx="6543092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AccountService accountService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UserService userService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 account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"thanhtam1102"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"123456789"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 = accountService.save(account)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.println(user.getAccount())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29A7F-3EE9-9079-3A5B-02165D2F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68" y="4422371"/>
            <a:ext cx="10188823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04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34F5-731B-2634-F56B-B3460721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FE2FA-E545-EDC7-22B8-2CCE9358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51" y="158407"/>
            <a:ext cx="4106929" cy="193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C24B6D-562B-ADF3-8DEB-B1FA511BCBC1}"/>
              </a:ext>
            </a:extLst>
          </p:cNvPr>
          <p:cNvSpPr txBox="1"/>
          <p:nvPr/>
        </p:nvSpPr>
        <p:spPr>
          <a:xfrm>
            <a:off x="1097280" y="2090057"/>
            <a:ext cx="4537010" cy="37548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"full_name"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setFullName(fullName)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54C30-27D4-52EB-C481-8A9683CEAE7A}"/>
              </a:ext>
            </a:extLst>
          </p:cNvPr>
          <p:cNvSpPr txBox="1"/>
          <p:nvPr/>
        </p:nvSpPr>
        <p:spPr>
          <a:xfrm>
            <a:off x="5847962" y="1954749"/>
            <a:ext cx="6048569" cy="46166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"accounts"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Account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password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@OneToOne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"userId"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referencedColumnName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"id"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unique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Account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Account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username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password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user)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setUsername(username)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setPassword(password)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setUser(user)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B976AE-20AE-5563-939A-9C06910735F5}"/>
              </a:ext>
            </a:extLst>
          </p:cNvPr>
          <p:cNvSpPr/>
          <p:nvPr/>
        </p:nvSpPr>
        <p:spPr>
          <a:xfrm>
            <a:off x="10627567" y="4161453"/>
            <a:ext cx="1222311" cy="60649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78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EB59-AB70-818D-5E63-967CF143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B42A8-B1D1-9445-EB8E-6C745EBD028B}"/>
              </a:ext>
            </a:extLst>
          </p:cNvPr>
          <p:cNvSpPr txBox="1"/>
          <p:nvPr/>
        </p:nvSpPr>
        <p:spPr>
          <a:xfrm>
            <a:off x="4381655" y="722137"/>
            <a:ext cx="6992361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AccountService accountService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UserService userService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 account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"thanhtam1102"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"123456789"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account = accountService.save(account)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.println(account.toString())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4933E-AEF4-56EE-1D6F-5B9D6E00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81" y="4505267"/>
            <a:ext cx="8954276" cy="2232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4A5886-0405-3384-76BE-B7BFA0062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38" y="2233135"/>
            <a:ext cx="4168501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20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B0D4-BDA3-F10C-09FF-4D082201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E8F6C-2095-AD48-A538-A1C8AA44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88" y="1"/>
            <a:ext cx="3681859" cy="181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84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41B2-0E23-6600-6000-8E8F2515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F274-B6C1-EBB5-71B5-7A6C59771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2 Way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CDEA8-BBA3-E42C-5408-8687272F7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65" y="2748608"/>
            <a:ext cx="4953429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02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93E0-CA13-C277-36BC-B1E7B2E9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7FA43-D76F-6788-63B3-9017EB9C3F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848"/>
          <a:stretch/>
        </p:blipFill>
        <p:spPr>
          <a:xfrm>
            <a:off x="3504975" y="1927270"/>
            <a:ext cx="5182049" cy="1752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69EDC3-FCC8-6B5E-8CCF-47B47676B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11" y="4056634"/>
            <a:ext cx="6226080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13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FF6F-B003-C292-4CB1-E8C91610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59D98-3B19-6EA8-E00F-97639BE81F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848"/>
          <a:stretch/>
        </p:blipFill>
        <p:spPr>
          <a:xfrm>
            <a:off x="6876660" y="133984"/>
            <a:ext cx="4740175" cy="1603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2AA3A4-D76A-286C-8B4B-A311DDDF5EFD}"/>
              </a:ext>
            </a:extLst>
          </p:cNvPr>
          <p:cNvSpPr txBox="1"/>
          <p:nvPr/>
        </p:nvSpPr>
        <p:spPr>
          <a:xfrm>
            <a:off x="1549660" y="2213143"/>
            <a:ext cx="4546340" cy="37548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"full_name"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setFullName(fullName)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1E4B3-E068-3468-0DCC-B89D44EE5301}"/>
              </a:ext>
            </a:extLst>
          </p:cNvPr>
          <p:cNvSpPr txBox="1"/>
          <p:nvPr/>
        </p:nvSpPr>
        <p:spPr>
          <a:xfrm>
            <a:off x="6435014" y="1889978"/>
            <a:ext cx="4627985" cy="4401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"shipping_addresses"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ShippingAddress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address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ShippingAddress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ShippingAddress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address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user)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setAddress(address)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setUser(user)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A90F0D-A437-7E6C-6BBF-F70775DA4288}"/>
              </a:ext>
            </a:extLst>
          </p:cNvPr>
          <p:cNvSpPr/>
          <p:nvPr/>
        </p:nvSpPr>
        <p:spPr>
          <a:xfrm>
            <a:off x="6571860" y="3844212"/>
            <a:ext cx="2845836" cy="42920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30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A6D4-F46B-F770-F72B-AC6AF151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14358-5016-5F3D-B83C-6B9624168CF3}"/>
              </a:ext>
            </a:extLst>
          </p:cNvPr>
          <p:cNvSpPr txBox="1"/>
          <p:nvPr/>
        </p:nvSpPr>
        <p:spPr>
          <a:xfrm>
            <a:off x="1804229" y="1881751"/>
            <a:ext cx="8583541" cy="45243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UserService userService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ShippingAddressService shippingAddressService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 shippingAddress1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"Shipping Address 1"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 shippingAddress2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"Shipping Address 2"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user)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shippingAddress1 = shippingAddressService.save(shippingAddress1)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shippingAddress2 = shippingAddressService.save(shippingAddress2)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.println(shippingAddress1)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.println(shippingAddress2)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4356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2510-E125-C45F-12DF-67141B02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E36A2-5132-F10B-C560-1A72E619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18" y="1993419"/>
            <a:ext cx="9045724" cy="1508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5CD47-E302-5D3F-1A3C-6FCACF8A0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18" y="4173604"/>
            <a:ext cx="4431091" cy="1434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0FC8FB-363D-1612-4ED2-2FBD2C5E5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774" y="3758369"/>
            <a:ext cx="4015568" cy="232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91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4B5C-E121-0335-1D14-9307E7D4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01035-CF94-7720-2654-EB8310BD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09" y="89881"/>
            <a:ext cx="5411481" cy="1602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3B642-8D2E-0F56-4DDE-29D90A9784D6}"/>
              </a:ext>
            </a:extLst>
          </p:cNvPr>
          <p:cNvSpPr txBox="1"/>
          <p:nvPr/>
        </p:nvSpPr>
        <p:spPr>
          <a:xfrm>
            <a:off x="1097280" y="1889514"/>
            <a:ext cx="4771675" cy="4401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"full_name"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@OneToMany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(mappedBy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fetch = FetchType.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List&lt;ShippingAddress&gt;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shippingAddresses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setFullName(fullName)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6EB02-C507-B825-6AD3-2E5A8FAA2160}"/>
              </a:ext>
            </a:extLst>
          </p:cNvPr>
          <p:cNvSpPr txBox="1"/>
          <p:nvPr/>
        </p:nvSpPr>
        <p:spPr>
          <a:xfrm>
            <a:off x="6126480" y="1889514"/>
            <a:ext cx="4505130" cy="4401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"shipping_addresses"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ShippingAddress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address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ShippingAddress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ShippingAddress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address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user)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setAddress(address)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setUser(user)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51661E-7B14-13DD-00D0-2A6C8991FD0F}"/>
              </a:ext>
            </a:extLst>
          </p:cNvPr>
          <p:cNvSpPr/>
          <p:nvPr/>
        </p:nvSpPr>
        <p:spPr>
          <a:xfrm>
            <a:off x="1175657" y="4208106"/>
            <a:ext cx="4693298" cy="27991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89532E-78EF-C11B-07F9-CD09FB9C1B10}"/>
              </a:ext>
            </a:extLst>
          </p:cNvPr>
          <p:cNvSpPr/>
          <p:nvPr/>
        </p:nvSpPr>
        <p:spPr>
          <a:xfrm>
            <a:off x="6251509" y="3875313"/>
            <a:ext cx="2547258" cy="40743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852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FC3C-216C-7F50-4EE9-0CD7E67D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24399-CF39-6BEE-E99B-5F814A594C97}"/>
              </a:ext>
            </a:extLst>
          </p:cNvPr>
          <p:cNvSpPr txBox="1"/>
          <p:nvPr/>
        </p:nvSpPr>
        <p:spPr>
          <a:xfrm>
            <a:off x="1419186" y="1962292"/>
            <a:ext cx="9414588" cy="477053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UserService userService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ShippingAddressService shippingAddressService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 shippingAddress1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"Shipping Address 1"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 shippingAddress2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"Shipping Address 2"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shippingAddress1 = shippingAddressService.save(shippingAddress1)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shippingAddress2 = shippingAddressService.save(shippingAddress2)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.println(shippingAddress1)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.println(shippingAddress2)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 = userService.findById(user.getId())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9357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E274-97F0-F378-EE88-6707B42A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4CCC0-1915-302C-C5C0-8BA1748DF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48" y="2399174"/>
            <a:ext cx="8801863" cy="55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52AEC3-21D8-3389-8269-9C1C324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09" y="3758369"/>
            <a:ext cx="4431091" cy="1434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4453E-FDB8-8188-4AAB-40BB46E12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05" y="3429000"/>
            <a:ext cx="4015568" cy="232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95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F57F-B1B6-C5C1-AE38-E34E5EBC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Many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B5866-CC77-095E-4F13-F013756A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807" y="211958"/>
            <a:ext cx="2161913" cy="1450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705C1A-168D-621B-1A28-C7D41EBDBD62}"/>
              </a:ext>
            </a:extLst>
          </p:cNvPr>
          <p:cNvSpPr txBox="1"/>
          <p:nvPr/>
        </p:nvSpPr>
        <p:spPr>
          <a:xfrm>
            <a:off x="3077703" y="1813950"/>
            <a:ext cx="6097554" cy="51090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</a:p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@ElementCollection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(fetch = FetchType.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@CollectionTable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    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"images"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joinColumns =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"image"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List&lt;String&gt;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images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List&lt;String&gt; images)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name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images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images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E92FB7-0C24-02D2-ABD1-86B0F2D43F20}"/>
              </a:ext>
            </a:extLst>
          </p:cNvPr>
          <p:cNvSpPr/>
          <p:nvPr/>
        </p:nvSpPr>
        <p:spPr>
          <a:xfrm>
            <a:off x="3228392" y="3526971"/>
            <a:ext cx="4236098" cy="133427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460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FFC5-B17F-0DFF-25C6-B23C7A91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Many Collection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DFC4B-3517-809C-A127-474B686F0FFA}"/>
              </a:ext>
            </a:extLst>
          </p:cNvPr>
          <p:cNvSpPr txBox="1"/>
          <p:nvPr/>
        </p:nvSpPr>
        <p:spPr>
          <a:xfrm>
            <a:off x="3047223" y="2400515"/>
            <a:ext cx="6097554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ProductService productService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ProductServiceImpl()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 product =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Product(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"New Product"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Arrays.</a:t>
            </a:r>
            <a:r>
              <a:rPr lang="en-US" sz="1800" i="1">
                <a:solidFill>
                  <a:srgbClr val="A9B7C6"/>
                </a:solidFill>
                <a:effectLst/>
                <a:latin typeface="JetBrains Mono"/>
              </a:rPr>
              <a:t>asList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"image1"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"image2"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"image3"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 = productService.save(product)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.println(product)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2198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818A-4CED-C9FF-9B59-4A3426BC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Many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34239-5217-1707-E213-02B34E267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43" y="1904868"/>
            <a:ext cx="6607113" cy="1524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DC461-1937-75FA-D491-22961D093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43" y="4324848"/>
            <a:ext cx="3909399" cy="1082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90E4F7-0190-50A7-8DBB-3D5513E48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753" y="3625622"/>
            <a:ext cx="3075993" cy="276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65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AD8D-F63C-AEC5-652F-59655BC0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– Many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468E-2946-FFDF-324C-8EE4AAF7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089" y="2956940"/>
            <a:ext cx="6553822" cy="944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Có thể tạo Collection table nhiều filed hay không?</a:t>
            </a:r>
          </a:p>
          <a:p>
            <a:pPr marL="0" indent="0">
              <a:buNone/>
            </a:pPr>
            <a:r>
              <a:rPr lang="en-US" sz="2400" b="1"/>
              <a:t>Có nên tạo Collection table nhiều filed hay không?</a:t>
            </a:r>
          </a:p>
        </p:txBody>
      </p:sp>
    </p:spTree>
    <p:extLst>
      <p:ext uri="{BB962C8B-B14F-4D97-AF65-F5344CB8AC3E}">
        <p14:creationId xmlns:p14="http://schemas.microsoft.com/office/powerpoint/2010/main" val="39607507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CFA9-20B9-2281-F44E-61CFB8B3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98BF-3273-C333-F2B1-A328DCC7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@ManyToMany</a:t>
            </a:r>
          </a:p>
          <a:p>
            <a:r>
              <a:rPr lang="en-US"/>
              <a:t>@IdClass</a:t>
            </a:r>
          </a:p>
          <a:p>
            <a:r>
              <a:rPr lang="en-US"/>
              <a:t>@EmbeddedId</a:t>
            </a:r>
          </a:p>
        </p:txBody>
      </p:sp>
    </p:spTree>
    <p:extLst>
      <p:ext uri="{BB962C8B-B14F-4D97-AF65-F5344CB8AC3E}">
        <p14:creationId xmlns:p14="http://schemas.microsoft.com/office/powerpoint/2010/main" val="4163995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8128-1F2F-5EAB-9E2A-B8C91F7D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27754-3AB1-43C1-1984-873EAF32E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6" y="96815"/>
            <a:ext cx="5235394" cy="1569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A5F553-0233-DB37-15CE-B5DC07379FBB}"/>
              </a:ext>
            </a:extLst>
          </p:cNvPr>
          <p:cNvSpPr txBox="1"/>
          <p:nvPr/>
        </p:nvSpPr>
        <p:spPr>
          <a:xfrm>
            <a:off x="994644" y="1927148"/>
            <a:ext cx="5247536" cy="41857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@ManyToMany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(mappedBy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"products"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fetch = FetchType.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List&lt;Category&gt;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categories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List&lt;String&gt; images)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name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images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images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06A04B-91D3-2659-BC1A-8865053EF8FA}"/>
              </a:ext>
            </a:extLst>
          </p:cNvPr>
          <p:cNvSpPr txBox="1"/>
          <p:nvPr/>
        </p:nvSpPr>
        <p:spPr>
          <a:xfrm>
            <a:off x="6517445" y="1595021"/>
            <a:ext cx="5144900" cy="5262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"categories"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@ManyToMany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(fetch = FetchType.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@JoinTable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    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"products_categories"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joinColumns =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"category_id"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inverseJoinColumns =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List&lt;Product&gt;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Category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Category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List&lt;Product&gt; products)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setName(name)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setProducts(products)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5AAB2-8FB8-8909-90B0-674CEC1254DC}"/>
              </a:ext>
            </a:extLst>
          </p:cNvPr>
          <p:cNvSpPr/>
          <p:nvPr/>
        </p:nvSpPr>
        <p:spPr>
          <a:xfrm>
            <a:off x="1097280" y="3788229"/>
            <a:ext cx="4998720" cy="63448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C5D9A-7993-45BD-2019-CD2E9995E21E}"/>
              </a:ext>
            </a:extLst>
          </p:cNvPr>
          <p:cNvSpPr/>
          <p:nvPr/>
        </p:nvSpPr>
        <p:spPr>
          <a:xfrm>
            <a:off x="6643396" y="3663198"/>
            <a:ext cx="4823926" cy="17019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79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19E-24C8-64F2-7340-CF1CCCCA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A38A8-6279-F798-2041-C6E856CB26DA}"/>
              </a:ext>
            </a:extLst>
          </p:cNvPr>
          <p:cNvSpPr txBox="1"/>
          <p:nvPr/>
        </p:nvSpPr>
        <p:spPr>
          <a:xfrm>
            <a:off x="407436" y="2444618"/>
            <a:ext cx="6596743" cy="332398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ProductService productService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ProductServiceImpl()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CategoryService categoryService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CategoryServiceImpl()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1"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Arrays.</a:t>
            </a:r>
            <a:r>
              <a:rPr lang="en-US" sz="1400" i="1">
                <a:solidFill>
                  <a:srgbClr val="A9B7C6"/>
                </a:solidFill>
                <a:effectLst/>
                <a:latin typeface="JetBrains Mono"/>
              </a:rPr>
              <a:t>asList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"image1"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"image2"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"image3"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product1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2"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null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product2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3"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null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= productService.save(product)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product1 = productService.save(product1)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product2 = productService.save(product2)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 category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"Danh mục 1"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Arrays.</a:t>
            </a:r>
            <a:r>
              <a:rPr lang="en-US" sz="1400" i="1">
                <a:solidFill>
                  <a:srgbClr val="A9B7C6"/>
                </a:solidFill>
                <a:effectLst/>
                <a:latin typeface="JetBrains Mono"/>
              </a:rPr>
              <a:t>asList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product1))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 category1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"Danh mục 2"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Arrays.</a:t>
            </a:r>
            <a:r>
              <a:rPr lang="en-US" sz="1400" i="1">
                <a:solidFill>
                  <a:srgbClr val="A9B7C6"/>
                </a:solidFill>
                <a:effectLst/>
                <a:latin typeface="JetBrains Mono"/>
              </a:rPr>
              <a:t>asList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product2))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40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4416C-4405-073B-C8F9-2BA40C744AED}"/>
              </a:ext>
            </a:extLst>
          </p:cNvPr>
          <p:cNvSpPr txBox="1"/>
          <p:nvPr/>
        </p:nvSpPr>
        <p:spPr>
          <a:xfrm>
            <a:off x="7299651" y="1906010"/>
            <a:ext cx="4484913" cy="4401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 = categoryService.save(category)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"Danh mục 1"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.println(category.getProducts())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category1 = categoryService.save(category1)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"Danh mục 2"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.println(category1.getProducts())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= productService.findById(product.getId())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1"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.println(product.getCategories())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product1 = productService.findById(product1.getId())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2"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.println(product1.getCategories())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product2 = productService.findById(product2.getId())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"Sản phẩm 3"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.println(product2.getCategories())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80196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0875-6828-9FF1-8CDE-65FF7BB5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A884B-AA76-DFB0-05C3-5CF6827B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2476272"/>
            <a:ext cx="880948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10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7FD1-3BB0-732A-2AE6-4C71A6F0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57E69-B34A-A95B-5B67-2A6430F9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8432"/>
            <a:ext cx="5840801" cy="3121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A473E-E47F-D0BD-F062-83D2B183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59" y="1737360"/>
            <a:ext cx="3904761" cy="4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05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7229-713C-20DB-92EB-7A757BA3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14406-8F41-3D80-0A05-D0E045D328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0" b="14247"/>
          <a:stretch/>
        </p:blipFill>
        <p:spPr>
          <a:xfrm>
            <a:off x="2712427" y="1995279"/>
            <a:ext cx="6655508" cy="1450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993B8-BA81-FEB4-74FF-93B868DD68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95" b="7982"/>
          <a:stretch/>
        </p:blipFill>
        <p:spPr>
          <a:xfrm>
            <a:off x="2011326" y="3703956"/>
            <a:ext cx="7356609" cy="154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375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6C19-5FC4-FB71-1FF6-6FFE58BA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2FE4D-58F4-4B8C-C78B-E69D035441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0" b="14247"/>
          <a:stretch/>
        </p:blipFill>
        <p:spPr>
          <a:xfrm>
            <a:off x="6111690" y="178229"/>
            <a:ext cx="5346301" cy="1165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16EDA-2CDC-3F89-D20F-47BDCB8C9A4A}"/>
              </a:ext>
            </a:extLst>
          </p:cNvPr>
          <p:cNvSpPr txBox="1"/>
          <p:nvPr/>
        </p:nvSpPr>
        <p:spPr>
          <a:xfrm>
            <a:off x="1247970" y="1845734"/>
            <a:ext cx="5180822" cy="42780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(EnumType.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STRING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OrderStatus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status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@CreationTimestamp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Date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createdAt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Order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    setStatus(OrderStatus.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WAITING_CONFIRMATION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A7BEF-59CE-5984-CA95-56FF6461F040}"/>
              </a:ext>
            </a:extLst>
          </p:cNvPr>
          <p:cNvSpPr txBox="1"/>
          <p:nvPr/>
        </p:nvSpPr>
        <p:spPr>
          <a:xfrm>
            <a:off x="6563308" y="1444518"/>
            <a:ext cx="4894683" cy="56938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"order_details"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@IdClass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(OrderDetailId.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class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OrderDetail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quantity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(Order 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quantity) </a:t>
            </a:r>
            <a:r>
              <a:rPr lang="en-US" sz="1400">
                <a:solidFill>
                  <a:srgbClr val="A9B7C6"/>
                </a:solidFill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setOrder(order)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setProduct(product)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setQuantity(quantity)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2753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3C62-DD59-3591-384A-3040CB3D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CD969-2375-8C61-804D-5350CE30A837}"/>
              </a:ext>
            </a:extLst>
          </p:cNvPr>
          <p:cNvSpPr txBox="1"/>
          <p:nvPr/>
        </p:nvSpPr>
        <p:spPr>
          <a:xfrm>
            <a:off x="3047223" y="2205460"/>
            <a:ext cx="6097554" cy="37856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OrderService orderService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OrderDetailService orderDetailService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order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= orderService.save(order)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 orderDetail1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OrderDetail(order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product1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 orderDetail2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OrderDetail(order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product2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orderDetail1 = orderDetailService.save(orderDetail1)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orderDetail2 = orderDetailService.save(orderDetail2)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.println(order)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.println(orderDetail1)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.println(orderDetail2)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60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055705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50C1-775A-C072-E73F-57A7BB2E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48960-84C7-F626-1A40-E27226CD5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72782"/>
            <a:ext cx="5875529" cy="1341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F5E2C-52D6-EAF2-A937-A412E8D76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083" y="1958246"/>
            <a:ext cx="8702794" cy="1493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9563BD-3B92-14A0-B4AE-BF732BBD9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775" y="3672781"/>
            <a:ext cx="3622945" cy="288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385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17D8-AAFA-8936-B1A6-7D41C835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9647D2-0221-320D-0846-4905CAD4E7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95" b="7982"/>
          <a:stretch/>
        </p:blipFill>
        <p:spPr>
          <a:xfrm>
            <a:off x="5605386" y="0"/>
            <a:ext cx="5701449" cy="1195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29068B-C277-7119-40CC-2F4DFD55C699}"/>
              </a:ext>
            </a:extLst>
          </p:cNvPr>
          <p:cNvSpPr txBox="1"/>
          <p:nvPr/>
        </p:nvSpPr>
        <p:spPr>
          <a:xfrm>
            <a:off x="6412152" y="1195635"/>
            <a:ext cx="4894683" cy="56938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"order_details"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@IdClass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(OrderDetailId.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class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OrderDetail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quantity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OrderDetail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(Order 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quantity) </a:t>
            </a:r>
            <a:r>
              <a:rPr lang="en-US" sz="1400">
                <a:solidFill>
                  <a:srgbClr val="A9B7C6"/>
                </a:solidFill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setOrder(order)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setProduct(product)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setQuantity(quantity)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A1942-B0C2-8CFA-D384-670656DE436C}"/>
              </a:ext>
            </a:extLst>
          </p:cNvPr>
          <p:cNvSpPr txBox="1"/>
          <p:nvPr/>
        </p:nvSpPr>
        <p:spPr>
          <a:xfrm>
            <a:off x="697153" y="1805051"/>
            <a:ext cx="5573019" cy="501675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"orders"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@Enumerated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(EnumType.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STRING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OrderStatus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status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@CreationTimestamp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Date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createdAt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@OneToMany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(mappedBy =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"order"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fetch = FetchType.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List&lt;OrderDetail&gt;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orderDetails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Order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    setStatus(OrderStatus.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WAITING_CONFIRMATION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55836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2534F-A273-54BD-4DB6-1C5CBCB6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85B3D-5AAE-C386-662F-CAB1B73458CC}"/>
              </a:ext>
            </a:extLst>
          </p:cNvPr>
          <p:cNvSpPr txBox="1"/>
          <p:nvPr/>
        </p:nvSpPr>
        <p:spPr>
          <a:xfrm>
            <a:off x="3047223" y="2038968"/>
            <a:ext cx="6097554" cy="40318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OrderService orderService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OrderDetailService orderDetailService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order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= orderService.save(order)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 orderDetail1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OrderDetail(order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product1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 orderDetail2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OrderDetail(order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product2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orderDetail1 = orderDetailService.save(orderDetail1)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orderDetail2 = orderDetailService.save(orderDetail2)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order = orderService.findById(order.getId())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.println(order)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"Order Details"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.println(order.getOrderDetails())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60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9987943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718D-F5B7-CE30-829E-8A410A39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C5D2F-D799-54C3-078C-7BD508D9D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34" y="2731709"/>
            <a:ext cx="8664691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730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3998-B259-D037-1C39-BAC99941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34EB7-B7E0-006B-489C-391387B7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21" y="1878843"/>
            <a:ext cx="9426757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640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3340-616C-34CC-1885-A3D5DDCB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4A0F2-F360-B96F-7972-788016827CEF}"/>
              </a:ext>
            </a:extLst>
          </p:cNvPr>
          <p:cNvSpPr txBox="1"/>
          <p:nvPr/>
        </p:nvSpPr>
        <p:spPr>
          <a:xfrm>
            <a:off x="5440683" y="582067"/>
            <a:ext cx="3162142" cy="56938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"reviews"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@EmbeddedId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ReviewId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@MapsId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@MapsId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@MapsId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rating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review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40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2A922-8FD1-AF88-3C0F-12AE9E2B8F0D}"/>
              </a:ext>
            </a:extLst>
          </p:cNvPr>
          <p:cNvSpPr txBox="1"/>
          <p:nvPr/>
        </p:nvSpPr>
        <p:spPr>
          <a:xfrm>
            <a:off x="1187942" y="1841242"/>
            <a:ext cx="4085873" cy="44012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@Embeddable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ReviewId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implements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Serializable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"order_id"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"product_id"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ReviewId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ReviewId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long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long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704DF-E5E5-BA33-CB68-2D9425DDCCE1}"/>
              </a:ext>
            </a:extLst>
          </p:cNvPr>
          <p:cNvSpPr txBox="1"/>
          <p:nvPr/>
        </p:nvSpPr>
        <p:spPr>
          <a:xfrm>
            <a:off x="8769693" y="2793859"/>
            <a:ext cx="3314699" cy="26776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Review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Review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(User 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 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rating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review)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ReviewId(user.getId()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order.getId()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product.getId())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order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product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rating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rating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review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review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342015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B4BF-5616-C2AE-9F9C-BC58E1ED8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70F39-9E06-5FF5-0038-5DDA9811D3CE}"/>
              </a:ext>
            </a:extLst>
          </p:cNvPr>
          <p:cNvSpPr txBox="1"/>
          <p:nvPr/>
        </p:nvSpPr>
        <p:spPr>
          <a:xfrm>
            <a:off x="3047223" y="1930493"/>
            <a:ext cx="6097554" cy="41857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UserService userService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OrderService orderService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OrderServiceImpl()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ReviewService reviewService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ReviewServiceImpl()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order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 = orderService.save(order)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 review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Review(user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order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product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"Good!!!"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 = reviewService.save(review)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.println(user)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.println(order)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.println(review)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review = reviewService.findById(review.getId())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.println(review)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40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8795455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D6C0-072F-C553-160B-95D06175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B10153-BD3A-81A1-C433-915BF189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0" y="2905459"/>
            <a:ext cx="3714817" cy="3665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FAFA4A-CF2F-534C-9C1B-DD9D6558E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27" y="1982043"/>
            <a:ext cx="7825294" cy="189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744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B567-CAB0-4BA6-37A2-EF3AD7AD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82271-1E16-F5C8-7162-3352A9BD8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4072"/>
            <a:ext cx="10058400" cy="3835021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Nên sử dụng mối quan hệ 1 chiều hay 2 chiều?</a:t>
            </a:r>
          </a:p>
        </p:txBody>
      </p:sp>
    </p:spTree>
    <p:extLst>
      <p:ext uri="{BB962C8B-B14F-4D97-AF65-F5344CB8AC3E}">
        <p14:creationId xmlns:p14="http://schemas.microsoft.com/office/powerpoint/2010/main" val="2330158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F8BF-1014-D3EA-2470-AFF448A2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- Billion</a:t>
            </a:r>
          </a:p>
        </p:txBody>
      </p:sp>
    </p:spTree>
    <p:extLst>
      <p:ext uri="{BB962C8B-B14F-4D97-AF65-F5344CB8AC3E}">
        <p14:creationId xmlns:p14="http://schemas.microsoft.com/office/powerpoint/2010/main" val="3306788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1DBB-0201-3AFF-8209-5634ADD6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BCB1-D4A8-0DC2-8E61-8A454189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JOINED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SINGLE_TABLE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@MappedSuperclass</a:t>
            </a:r>
            <a:endParaRPr lang="en-US" sz="1800">
              <a:solidFill>
                <a:srgbClr val="A9B7C6"/>
              </a:solidFill>
              <a:latin typeface="JetBrains Mono"/>
            </a:endParaRPr>
          </a:p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TABLE_PER_CLASS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650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BE73-DD1D-F08C-598A-A52829D0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A9C11-EB4E-6F70-D7A8-8442D89E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53" y="2553931"/>
            <a:ext cx="4067845" cy="3478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5B4DB8-BFF4-20BE-54E6-962CF2493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012" y="2784432"/>
            <a:ext cx="4366638" cy="30177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BC5A04-9C17-9699-1828-92434B2BBA33}"/>
              </a:ext>
            </a:extLst>
          </p:cNvPr>
          <p:cNvSpPr txBox="1"/>
          <p:nvPr/>
        </p:nvSpPr>
        <p:spPr>
          <a:xfrm>
            <a:off x="1097280" y="184869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JOINED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92029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DE2A-E8F4-9CDE-2331-06B534F2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81F33-0EEE-B4CD-3FB6-64253E30403D}"/>
              </a:ext>
            </a:extLst>
          </p:cNvPr>
          <p:cNvSpPr txBox="1"/>
          <p:nvPr/>
        </p:nvSpPr>
        <p:spPr>
          <a:xfrm>
            <a:off x="699796" y="1954749"/>
            <a:ext cx="4509019" cy="46166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"persons"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JOINED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abstract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Person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"full_name"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phone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Person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Person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phone)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setFullName(fullName)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setPhone(phone)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B70C3-35CA-4D64-DAEF-0E3E6FEAC399}"/>
              </a:ext>
            </a:extLst>
          </p:cNvPr>
          <p:cNvSpPr txBox="1"/>
          <p:nvPr/>
        </p:nvSpPr>
        <p:spPr>
          <a:xfrm>
            <a:off x="5516725" y="286603"/>
            <a:ext cx="5922606" cy="2893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User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Person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@OneToMany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(mappedBy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"user"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fetch = FetchType.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List&lt;ShippingAddress&gt;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shippingAddresses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User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phone)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phone)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A8BA4-8386-6252-5CC6-5B6D0A32C992}"/>
              </a:ext>
            </a:extLst>
          </p:cNvPr>
          <p:cNvSpPr txBox="1"/>
          <p:nvPr/>
        </p:nvSpPr>
        <p:spPr>
          <a:xfrm>
            <a:off x="5516725" y="3247410"/>
            <a:ext cx="5922606" cy="332398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"employees"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Employee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Person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@JoinColumn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"department_id"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Department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department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Employee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Employee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phone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Department department)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(fullName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phone)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setDepartment(department)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77B8E7-6717-1891-70A5-671AF198CB7D}"/>
              </a:ext>
            </a:extLst>
          </p:cNvPr>
          <p:cNvSpPr/>
          <p:nvPr/>
        </p:nvSpPr>
        <p:spPr>
          <a:xfrm>
            <a:off x="699796" y="2388637"/>
            <a:ext cx="3806890" cy="2985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24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F312-CF7A-B638-8C70-1881630D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3FDE5-745A-24D8-22A5-223332621303}"/>
              </a:ext>
            </a:extLst>
          </p:cNvPr>
          <p:cNvSpPr txBox="1"/>
          <p:nvPr/>
        </p:nvSpPr>
        <p:spPr>
          <a:xfrm>
            <a:off x="2128546" y="1920590"/>
            <a:ext cx="7934908" cy="42780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UserService userService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EmployeeService employeeService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EmployeeServiceImpl()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DepartmentService departmentService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 user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"0123456789"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user = userService.save(user)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 department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"Development Room"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 = departmentService.save(department)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Employee employee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Employee(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"Nguyen Thanh Tam"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"0123456789"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department)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employee = employeeService.save(employee)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.println(user)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.println(employee)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65969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91F5-2BE1-1804-E539-0F3DB6F8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AAB0A-60C2-1017-FFF5-2231E9CE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445" y="3316277"/>
            <a:ext cx="4366638" cy="3017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EDE86-C6CF-3C55-3B53-B160BA9F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77" y="2004554"/>
            <a:ext cx="9533446" cy="1150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8EDE0E-8D66-4D0E-D555-B61C7DC90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080" y="3316277"/>
            <a:ext cx="3069716" cy="32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895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7CEF-D81F-C24A-6AF6-10519B78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C84BB-37AB-36DB-6107-596C55F9C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849" y="2032347"/>
            <a:ext cx="9494831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Ưu điểm: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Table được chuẩn hóa, không gây dư thừa, trùng lắp dữ liệu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Có thể config column not null, unique</a:t>
            </a:r>
          </a:p>
          <a:p>
            <a:pPr>
              <a:lnSpc>
                <a:spcPct val="150000"/>
              </a:lnSpc>
            </a:pPr>
            <a:r>
              <a:rPr lang="en-US" sz="2400" b="1"/>
              <a:t>Nhược điểm: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Hiệu năng không tốt, cần join khi query</a:t>
            </a:r>
          </a:p>
        </p:txBody>
      </p:sp>
    </p:spTree>
    <p:extLst>
      <p:ext uri="{BB962C8B-B14F-4D97-AF65-F5344CB8AC3E}">
        <p14:creationId xmlns:p14="http://schemas.microsoft.com/office/powerpoint/2010/main" val="4672703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DF82-C0F4-88E8-16DA-6C743F1F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DDF85-5B77-0B71-3307-F7AF2173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227" y="3046811"/>
            <a:ext cx="3504697" cy="2494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797E0-5499-9B23-C7D1-9FE22453C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76" y="2532752"/>
            <a:ext cx="3986091" cy="35228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9C6D8-844C-A546-6DA5-2B7DA6D91F5D}"/>
              </a:ext>
            </a:extLst>
          </p:cNvPr>
          <p:cNvSpPr txBox="1"/>
          <p:nvPr/>
        </p:nvSpPr>
        <p:spPr>
          <a:xfrm>
            <a:off x="1097280" y="185728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SINGLE_TABLE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91228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D1F7-F017-8452-B650-EF4CC09C3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00C3A-AA62-C46A-BF18-A005A2B2E85A}"/>
              </a:ext>
            </a:extLst>
          </p:cNvPr>
          <p:cNvSpPr txBox="1"/>
          <p:nvPr/>
        </p:nvSpPr>
        <p:spPr>
          <a:xfrm>
            <a:off x="706794" y="1975687"/>
            <a:ext cx="5600699" cy="42780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SINGLE_TABLE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"courses"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Course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6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name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Course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() {}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Course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(String name)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name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= name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F808F-1E58-1C8A-4375-2CCB9D6A4329}"/>
              </a:ext>
            </a:extLst>
          </p:cNvPr>
          <p:cNvSpPr txBox="1"/>
          <p:nvPr/>
        </p:nvSpPr>
        <p:spPr>
          <a:xfrm>
            <a:off x="6497373" y="535900"/>
            <a:ext cx="5386095" cy="26776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OnlineCourse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Course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"num_videos"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numVideos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OnlineCourse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OnlineCourse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numVideos)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setNumVideos(numVideos)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8FC13-68E4-6754-202D-DC16EF06BAAB}"/>
              </a:ext>
            </a:extLst>
          </p:cNvPr>
          <p:cNvSpPr txBox="1"/>
          <p:nvPr/>
        </p:nvSpPr>
        <p:spPr>
          <a:xfrm>
            <a:off x="6497372" y="3360681"/>
            <a:ext cx="5386095" cy="2893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OfflineCourse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Course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int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numLessons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private float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numHours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OfflineCourse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OfflineCourse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name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numLessons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float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numHours)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setNumLessons(numLessons)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setNumHours(numHours)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89B6B-B823-B609-7F92-A3692E1745B4}"/>
              </a:ext>
            </a:extLst>
          </p:cNvPr>
          <p:cNvSpPr/>
          <p:nvPr/>
        </p:nvSpPr>
        <p:spPr>
          <a:xfrm>
            <a:off x="706794" y="1903445"/>
            <a:ext cx="4854251" cy="41054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235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990B-A3AE-7397-DDDE-E9C89555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04736-34EB-F027-F560-31E05DB85B76}"/>
              </a:ext>
            </a:extLst>
          </p:cNvPr>
          <p:cNvSpPr txBox="1"/>
          <p:nvPr/>
        </p:nvSpPr>
        <p:spPr>
          <a:xfrm>
            <a:off x="2356796" y="2250654"/>
            <a:ext cx="7539368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    OfflineCourseService offlineCourseService = 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OfflineCourseServiceImpl()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OnlineCourseService onlineCourseService = 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OnlineCourseServiceImpl()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OnlineCourse onlineCourse = 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OnlineCourse(</a:t>
            </a:r>
            <a:r>
              <a:rPr lang="en-US">
                <a:solidFill>
                  <a:srgbClr val="6A8759"/>
                </a:solidFill>
                <a:effectLst/>
                <a:latin typeface="JetBrains Mono"/>
              </a:rPr>
              <a:t>"Advanced Java"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onlineCourse = onlineCourseService.save(onlineCourse)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OfflineCourse offlineCourse = 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OfflineCourse(</a:t>
            </a:r>
            <a:r>
              <a:rPr lang="en-US">
                <a:solidFill>
                  <a:srgbClr val="6A8759"/>
                </a:solidFill>
                <a:effectLst/>
                <a:latin typeface="JetBrains Mono"/>
              </a:rPr>
              <a:t>"Advanced Java"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>
                <a:solidFill>
                  <a:srgbClr val="6897BB"/>
                </a:solidFill>
                <a:effectLst/>
                <a:latin typeface="JetBrains Mono"/>
              </a:rPr>
              <a:t>12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offlineCourse = offlineCourseService.save(offlineCourse)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.println(onlineCourse)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.println(offlineCourse)</a:t>
            </a:r>
            <a:r>
              <a:rPr lang="en-US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67899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4406-303B-FC06-93C7-F3E3D114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FA0B5-C753-24F1-329A-D337D957C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98" y="3463623"/>
            <a:ext cx="3504697" cy="2494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C461D8-53BC-F2AB-6595-3CF377617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12" y="2028942"/>
            <a:ext cx="9419136" cy="1143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25A057-5E65-99DD-2F2A-85C4EF960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895" y="3737277"/>
            <a:ext cx="6284006" cy="20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80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1281-D2CD-A2EF-3CF9-1CB5F7E7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4584-7724-F4C3-B5DE-FC57792B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212" y="2006082"/>
            <a:ext cx="10058400" cy="3863012"/>
          </a:xfrm>
        </p:spPr>
        <p:txBody>
          <a:bodyPr>
            <a:normAutofit fontScale="85000" lnSpcReduction="20000"/>
          </a:bodyPr>
          <a:lstStyle/>
          <a:p>
            <a:r>
              <a:rPr lang="fr-FR" sz="2400"/>
              <a:t>Parrent Class</a:t>
            </a:r>
          </a:p>
          <a:p>
            <a:r>
              <a:rPr lang="fr-FR" sz="2100">
                <a:solidFill>
                  <a:srgbClr val="BBB529"/>
                </a:solidFill>
                <a:effectLst/>
                <a:latin typeface="JetBrains Mono"/>
              </a:rPr>
              <a:t>@DiscriminatorColumn</a:t>
            </a:r>
            <a:r>
              <a:rPr lang="fr-FR" sz="21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fr-FR" sz="2100">
                <a:solidFill>
                  <a:srgbClr val="6A8759"/>
                </a:solidFill>
                <a:effectLst/>
                <a:latin typeface="JetBrains Mono"/>
              </a:rPr>
              <a:t>"course_type"</a:t>
            </a:r>
            <a:r>
              <a:rPr lang="fr-FR" sz="21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fr-FR" sz="2100">
                <a:solidFill>
                  <a:srgbClr val="A9B7C6"/>
                </a:solidFill>
                <a:effectLst/>
                <a:latin typeface="JetBrains Mono"/>
              </a:rPr>
              <a:t>discriminatorType = DiscriminatorType.</a:t>
            </a:r>
            <a:r>
              <a:rPr lang="fr-FR" sz="2100" i="1">
                <a:solidFill>
                  <a:srgbClr val="9876AA"/>
                </a:solidFill>
                <a:effectLst/>
                <a:latin typeface="JetBrains Mono"/>
              </a:rPr>
              <a:t>INTEGER</a:t>
            </a:r>
            <a:r>
              <a:rPr lang="fr-FR" sz="21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endParaRPr lang="en-US" sz="2400"/>
          </a:p>
          <a:p>
            <a:r>
              <a:rPr lang="en-US" sz="2400"/>
              <a:t>Child Class</a:t>
            </a:r>
          </a:p>
          <a:p>
            <a:r>
              <a:rPr lang="en-US" sz="2100">
                <a:solidFill>
                  <a:srgbClr val="BBB529"/>
                </a:solidFill>
                <a:effectLst/>
                <a:latin typeface="JetBrains Mono"/>
              </a:rPr>
              <a:t>@DiscriminatorValue</a:t>
            </a:r>
            <a:r>
              <a:rPr lang="en-US" sz="2100">
                <a:solidFill>
                  <a:srgbClr val="A9B7C6"/>
                </a:solidFill>
                <a:effectLst/>
                <a:latin typeface="JetBrains Mono"/>
              </a:rPr>
              <a:t>(value = </a:t>
            </a:r>
            <a:r>
              <a:rPr lang="en-US" sz="2100">
                <a:solidFill>
                  <a:srgbClr val="6A8759"/>
                </a:solidFill>
                <a:effectLst/>
                <a:latin typeface="JetBrains Mono"/>
              </a:rPr>
              <a:t>“1"</a:t>
            </a:r>
            <a:r>
              <a:rPr lang="en-US" sz="2100"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lang="en-US" sz="3300"/>
          </a:p>
          <a:p>
            <a:endParaRPr lang="en-US" sz="2400"/>
          </a:p>
          <a:p>
            <a:r>
              <a:rPr lang="fr-FR" sz="2400">
                <a:solidFill>
                  <a:srgbClr val="A9B7C6"/>
                </a:solidFill>
                <a:effectLst/>
                <a:latin typeface="JetBrains Mono"/>
              </a:rPr>
              <a:t>discriminatorType</a:t>
            </a:r>
          </a:p>
          <a:p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DiscriminatorType.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STRING</a:t>
            </a:r>
            <a:r>
              <a:rPr lang="en-US" i="1">
                <a:solidFill>
                  <a:srgbClr val="A9B7C6"/>
                </a:solidFill>
                <a:latin typeface="JetBrains Mono"/>
              </a:rPr>
              <a:t> (Default)</a:t>
            </a:r>
            <a:endParaRPr lang="fr-FR" sz="2400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DiscriminatorType.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INTEGER</a:t>
            </a:r>
            <a:endParaRPr lang="en-US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DiscriminatorType.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CHAR</a:t>
            </a:r>
            <a:endParaRPr lang="en-US">
              <a:solidFill>
                <a:srgbClr val="A9B7C6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B26C9-25B1-648D-3522-72EBDBC35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402" y="4757812"/>
            <a:ext cx="6315210" cy="90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706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DA5B-B5AA-5A3F-077E-21E360FB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E531-DA91-68EA-4990-A8E034BD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188" y="2276669"/>
            <a:ext cx="9513492" cy="348045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Ưu điểm: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Chỉ tạo 1 table trong database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Hiệu năng tốt do không cần Join khi query, chỉ cần query 1 table duy nhất</a:t>
            </a:r>
          </a:p>
          <a:p>
            <a:pPr>
              <a:lnSpc>
                <a:spcPct val="150000"/>
              </a:lnSpc>
            </a:pPr>
            <a:r>
              <a:rPr lang="en-US" sz="2400" b="1"/>
              <a:t>Nhược điểm: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Không thể config column not null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Không thể config unique, trùng lắp dữ liệu</a:t>
            </a:r>
          </a:p>
          <a:p>
            <a:pPr lvl="1">
              <a:lnSpc>
                <a:spcPct val="150000"/>
              </a:lnSpc>
            </a:pPr>
            <a:r>
              <a:rPr lang="en-US" sz="2000"/>
              <a:t>Table không được chuẩn hóa, null column</a:t>
            </a:r>
          </a:p>
        </p:txBody>
      </p:sp>
    </p:spTree>
    <p:extLst>
      <p:ext uri="{BB962C8B-B14F-4D97-AF65-F5344CB8AC3E}">
        <p14:creationId xmlns:p14="http://schemas.microsoft.com/office/powerpoint/2010/main" val="8373115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6FAD-9EA8-D737-CE2D-E5A9B128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4C684-AEF7-3DBC-1757-E1FB7973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73" y="2502121"/>
            <a:ext cx="3497011" cy="3091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93BF3-99C9-6E22-BC59-83F1F3D48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587" y="3062871"/>
            <a:ext cx="5702093" cy="1826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27E958-B81A-E5BE-B1ED-8D07B6AD983B}"/>
              </a:ext>
            </a:extLst>
          </p:cNvPr>
          <p:cNvSpPr txBox="1"/>
          <p:nvPr/>
        </p:nvSpPr>
        <p:spPr>
          <a:xfrm>
            <a:off x="1097280" y="184611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@MappedSuperclass</a:t>
            </a:r>
            <a:endParaRPr lang="en-US" sz="180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219560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B293-DB31-64EB-034D-68E52242E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71001-D2CF-F129-D862-83B9F08E4318}"/>
              </a:ext>
            </a:extLst>
          </p:cNvPr>
          <p:cNvSpPr txBox="1"/>
          <p:nvPr/>
        </p:nvSpPr>
        <p:spPr>
          <a:xfrm>
            <a:off x="1097280" y="2879296"/>
            <a:ext cx="2764193" cy="30469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@MappedSuperclass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abstract class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title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Book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Book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(String title)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600">
                <a:solidFill>
                  <a:srgbClr val="9876AA"/>
                </a:solidFill>
                <a:effectLst/>
                <a:latin typeface="JetBrains Mono"/>
              </a:rPr>
              <a:t>title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= title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31529-41C8-DE79-53DB-FDBCFFEFDB74}"/>
              </a:ext>
            </a:extLst>
          </p:cNvPr>
          <p:cNvSpPr txBox="1"/>
          <p:nvPr/>
        </p:nvSpPr>
        <p:spPr>
          <a:xfrm>
            <a:off x="4210206" y="415460"/>
            <a:ext cx="4658308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"ebooks"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EBook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url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url)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(title)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setUrl(url)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D9349-F165-DDA9-0CFC-1045E2CD0B07}"/>
              </a:ext>
            </a:extLst>
          </p:cNvPr>
          <p:cNvSpPr txBox="1"/>
          <p:nvPr/>
        </p:nvSpPr>
        <p:spPr>
          <a:xfrm>
            <a:off x="7407108" y="2727585"/>
            <a:ext cx="4574332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"printed_books"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PrintedBook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IDENTITY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isbn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PrintedBook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PrintedBook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isbn)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(title)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setIsbn(isbn)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BBED0-063F-9B27-471E-74E1C626333F}"/>
              </a:ext>
            </a:extLst>
          </p:cNvPr>
          <p:cNvSpPr/>
          <p:nvPr/>
        </p:nvSpPr>
        <p:spPr>
          <a:xfrm>
            <a:off x="1097279" y="2879296"/>
            <a:ext cx="2121781" cy="33043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84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9EC5-0043-D92C-D7E9-A22AA07B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24753-B30A-4FE5-F65D-D932ABE4CEAA}"/>
              </a:ext>
            </a:extLst>
          </p:cNvPr>
          <p:cNvSpPr txBox="1"/>
          <p:nvPr/>
        </p:nvSpPr>
        <p:spPr>
          <a:xfrm>
            <a:off x="2637842" y="2351830"/>
            <a:ext cx="6916316" cy="32932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160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lang="en-US" sz="16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    EBookService eBookService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PrintedBookService printedBookService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 eBook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"Advanced Java"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"https://google.com"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 = eBookService.save(eBook)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 printedBook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"Advanced Java"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"123456789"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 = printedBookService.save(printedBook)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.println(eBook)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.println(printedBook)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88136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B8AD-7942-2FCD-1817-15D7E0B2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8B956-24D7-8756-7AE4-0981A10F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67" y="1910857"/>
            <a:ext cx="9525825" cy="1188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7218F6-D938-5E04-9BAC-35545BE5F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608" y="3758321"/>
            <a:ext cx="5045651" cy="1616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11CC89-348A-6F5D-EF3A-369F53989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648" y="3233939"/>
            <a:ext cx="4184744" cy="26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408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6518-B4FD-5E01-BE2A-1EDE6F33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6CDE-4155-EB76-D8BC-66E26997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800" i="1">
                <a:solidFill>
                  <a:srgbClr val="9876AA"/>
                </a:solidFill>
                <a:effectLst/>
                <a:latin typeface="JetBrains Mono"/>
              </a:rPr>
              <a:t>TABLE_PER_CLASS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EF15D-D45F-5BB3-6A6D-4B6E00E4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73" y="2502121"/>
            <a:ext cx="3497011" cy="3091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AB495-84D6-B42A-ABC8-0207D97B8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587" y="3062871"/>
            <a:ext cx="5702093" cy="182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664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A22A-05C2-E596-8C1D-41FA1F8E8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10051-48A4-2142-F8C9-C3C7A4C9C0B3}"/>
              </a:ext>
            </a:extLst>
          </p:cNvPr>
          <p:cNvSpPr txBox="1"/>
          <p:nvPr/>
        </p:nvSpPr>
        <p:spPr>
          <a:xfrm>
            <a:off x="296247" y="1917098"/>
            <a:ext cx="4620986" cy="41857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@Inheritance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InheritanceType.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TABLE_PER_CLASS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abstract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@GeneratedValue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(strategy = GenerationType.</a:t>
            </a:r>
            <a:r>
              <a:rPr lang="en-US" sz="1400" i="1">
                <a:solidFill>
                  <a:srgbClr val="9876AA"/>
                </a:solidFill>
                <a:effectLst/>
                <a:latin typeface="JetBrains Mono"/>
              </a:rPr>
              <a:t>AUTO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@ManyToOne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Author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author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title)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this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title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= 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D9A896-616D-3973-08B0-61D076D53D03}"/>
              </a:ext>
            </a:extLst>
          </p:cNvPr>
          <p:cNvSpPr txBox="1"/>
          <p:nvPr/>
        </p:nvSpPr>
        <p:spPr>
          <a:xfrm>
            <a:off x="5036199" y="3249029"/>
            <a:ext cx="3939850" cy="35394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"printed_books"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PrintedBook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isbn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PrintedBook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PrintedBook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isbn)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(title)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setIsbn(isbn)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E6D50-3300-C024-54B7-5C90D55A9501}"/>
              </a:ext>
            </a:extLst>
          </p:cNvPr>
          <p:cNvSpPr txBox="1"/>
          <p:nvPr/>
        </p:nvSpPr>
        <p:spPr>
          <a:xfrm>
            <a:off x="8133963" y="255104"/>
            <a:ext cx="3939850" cy="37548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@Entity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@Table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(name = </a:t>
            </a:r>
            <a:r>
              <a:rPr lang="en-US" sz="1400">
                <a:solidFill>
                  <a:srgbClr val="6A8759"/>
                </a:solidFill>
                <a:effectLst/>
                <a:latin typeface="JetBrains Mono"/>
              </a:rPr>
              <a:t>"ebooks"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EBook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Book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@Id</a:t>
            </a:r>
            <a:br>
              <a:rPr lang="en-US" sz="140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long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id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BBB529"/>
                </a:solidFill>
                <a:effectLst/>
                <a:latin typeface="JetBrains Mono"/>
              </a:rPr>
              <a:t>@Column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(nullable =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false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private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</a:t>
            </a:r>
            <a:r>
              <a:rPr lang="en-US" sz="1400">
                <a:solidFill>
                  <a:srgbClr val="9876AA"/>
                </a:solidFill>
                <a:effectLst/>
                <a:latin typeface="JetBrains Mono"/>
              </a:rPr>
              <a:t>url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() { }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400">
                <a:solidFill>
                  <a:srgbClr val="FFC66D"/>
                </a:solidFill>
                <a:effectLst/>
                <a:latin typeface="JetBrains Mono"/>
              </a:rPr>
              <a:t>EBook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(String title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String url) {</a:t>
            </a:r>
            <a:br>
              <a:rPr lang="en-US" sz="14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super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(title)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setUrl(url)</a:t>
            </a: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4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4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4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E472F3-64ED-D397-DB35-D61799BE565A}"/>
              </a:ext>
            </a:extLst>
          </p:cNvPr>
          <p:cNvSpPr/>
          <p:nvPr/>
        </p:nvSpPr>
        <p:spPr>
          <a:xfrm>
            <a:off x="296247" y="1917098"/>
            <a:ext cx="4620986" cy="53685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63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C269-35EB-6BAD-1B00-8749ED90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3F38-A3EF-2F0F-52AD-1385EAEEA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259" y="2461555"/>
            <a:ext cx="6712442" cy="3274907"/>
          </a:xfrm>
          <a:solidFill>
            <a:schemeClr val="tx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EBookService eBookService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PrintedBookService printedBookService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PrintedBookServiceImpl()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 eBook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"Basic Java"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"https://google.com"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 = eBookService.save(eBook)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 printedBook = 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PrintedBook(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"Advanced Java"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600">
                <a:solidFill>
                  <a:srgbClr val="6A8759"/>
                </a:solidFill>
                <a:effectLst/>
                <a:latin typeface="JetBrains Mono"/>
              </a:rPr>
              <a:t>"123456789"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 = printedBookService.save(printedBook)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eBook = eBookService.findById(eBook.getId())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printedBook = printedBookService.findById(printedBook.getId())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.println(eBook)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6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1600" i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1600">
                <a:solidFill>
                  <a:srgbClr val="A9B7C6"/>
                </a:solidFill>
                <a:effectLst/>
                <a:latin typeface="JetBrains Mono"/>
              </a:rPr>
              <a:t>.println(printedBook)</a:t>
            </a:r>
            <a:r>
              <a:rPr lang="en-US" sz="1600"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lang="en-US" sz="160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0375408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E9A2-7C3E-D13F-1588-7C3B43E2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AE5CB-98D3-6522-B024-D1F0C75C0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61" y="2043438"/>
            <a:ext cx="8055038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7DA10E-81D3-7B7B-EC12-5D3C6F93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707" y="3347823"/>
            <a:ext cx="3656209" cy="2729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687DD7-5D30-A53C-AB26-A22443ED1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893631"/>
            <a:ext cx="5702093" cy="182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45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916C-673F-FF95-8204-1620F24E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062D858-CE1E-0A9A-F7F8-AB2F0162CD48}"/>
              </a:ext>
            </a:extLst>
          </p:cNvPr>
          <p:cNvSpPr txBox="1">
            <a:spLocks/>
          </p:cNvSpPr>
          <p:nvPr/>
        </p:nvSpPr>
        <p:spPr>
          <a:xfrm>
            <a:off x="1436915" y="2789854"/>
            <a:ext cx="7264678" cy="2118049"/>
          </a:xfrm>
          <a:prstGeom prst="rect">
            <a:avLst/>
          </a:prstGeom>
        </p:spPr>
        <p:txBody>
          <a:bodyPr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0" marR="0" indent="2286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0" marR="0" indent="4572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0" marR="0" indent="6858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0" marR="0" indent="9144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0" marR="0" indent="11430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0" marR="0" indent="13716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0" marR="0" indent="16002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0" marR="0" indent="18288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algn="l" hangingPunct="1">
              <a:buFont typeface="Wingdings" panose="05000000000000000000" pitchFamily="2" charset="2"/>
              <a:buChar char="Ø"/>
            </a:pPr>
            <a:r>
              <a:rPr lang="en-US" sz="2000" dirty="0"/>
              <a:t> Advantages</a:t>
            </a:r>
          </a:p>
          <a:p>
            <a:pPr lvl="1" algn="l" hangingPunct="1">
              <a:buFont typeface="Courier New" panose="02070309020205020404" pitchFamily="49" charset="0"/>
              <a:buChar char="o"/>
            </a:pPr>
            <a:r>
              <a:rPr lang="en-US" sz="2000" dirty="0"/>
              <a:t> Can set NOT NULL</a:t>
            </a:r>
          </a:p>
          <a:p>
            <a:pPr marL="428625" indent="-428625" algn="l" hangingPunct="1">
              <a:buFont typeface="Wingdings" panose="05000000000000000000" pitchFamily="2" charset="2"/>
              <a:buChar char="Ø"/>
            </a:pPr>
            <a:r>
              <a:rPr lang="en-US" sz="2000" dirty="0"/>
              <a:t> Disadvantages</a:t>
            </a:r>
          </a:p>
          <a:p>
            <a:pPr lvl="1" algn="l" hangingPunct="1">
              <a:buFont typeface="Courier New" panose="02070309020205020404" pitchFamily="49" charset="0"/>
              <a:buChar char="o"/>
            </a:pPr>
            <a:r>
              <a:rPr lang="en-US" sz="2000" dirty="0"/>
              <a:t> Table is not normalized</a:t>
            </a:r>
          </a:p>
          <a:p>
            <a:pPr lvl="1" algn="l" hangingPunct="1">
              <a:buFont typeface="Courier New" panose="02070309020205020404" pitchFamily="49" charset="0"/>
              <a:buChar char="o"/>
            </a:pPr>
            <a:r>
              <a:rPr lang="en-US" sz="2000" dirty="0"/>
              <a:t> Duplicated data </a:t>
            </a:r>
          </a:p>
          <a:p>
            <a:pPr lvl="1" algn="l" hangingPunct="1">
              <a:buFont typeface="Courier New" panose="02070309020205020404" pitchFamily="49" charset="0"/>
              <a:buChar char="o"/>
            </a:pPr>
            <a:r>
              <a:rPr lang="en-US" sz="2000" dirty="0"/>
              <a:t> Lower performance (due to additional UNION operators)</a:t>
            </a:r>
          </a:p>
          <a:p>
            <a:pPr marL="873125" lvl="1" indent="-428625" algn="l" hangingPunct="1"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75843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376D-841C-0E9F-B5A1-BFB1798D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79FF-8EF3-93A1-2D9A-121B80EAF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584" y="2090056"/>
            <a:ext cx="9470571" cy="37790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FetchType.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EAGER</a:t>
            </a:r>
            <a:endParaRPr lang="en-US">
              <a:solidFill>
                <a:srgbClr val="A9B7C6"/>
              </a:solidFill>
              <a:effectLst/>
              <a:latin typeface="JetBrains Mono"/>
            </a:endParaRPr>
          </a:p>
          <a:p>
            <a:r>
              <a:rPr lang="en-US">
                <a:solidFill>
                  <a:srgbClr val="A9B7C6"/>
                </a:solidFill>
                <a:effectLst/>
                <a:latin typeface="JetBrains Mono"/>
              </a:rPr>
              <a:t>FetchType.</a:t>
            </a:r>
            <a:r>
              <a:rPr lang="en-US" i="1">
                <a:solidFill>
                  <a:srgbClr val="9876AA"/>
                </a:solidFill>
                <a:effectLst/>
                <a:latin typeface="JetBrains Mono"/>
              </a:rPr>
              <a:t>LAZY</a:t>
            </a:r>
            <a:endParaRPr lang="en-US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418155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899D-83A6-82E3-2D95-225D0902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978E-7D7F-C3AF-3A19-2409786F5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576" y="2239346"/>
            <a:ext cx="9700104" cy="3629747"/>
          </a:xfrm>
        </p:spPr>
        <p:txBody>
          <a:bodyPr>
            <a:normAutofit/>
          </a:bodyPr>
          <a:lstStyle/>
          <a:p>
            <a:r>
              <a:rPr lang="en-US" sz="2400"/>
              <a:t>Hiberante Query Language</a:t>
            </a:r>
          </a:p>
          <a:p>
            <a:r>
              <a:rPr lang="en-US" sz="2400"/>
              <a:t>HQL translate to SQL</a:t>
            </a:r>
          </a:p>
          <a:p>
            <a:r>
              <a:rPr lang="en-US" sz="2400"/>
              <a:t>Các từ khóa như: select, from, where,… không phân biệt chữ hoa chữ thường</a:t>
            </a:r>
          </a:p>
          <a:p>
            <a:r>
              <a:rPr lang="en-US" sz="2400"/>
              <a:t>Tên table, tên thuộc tính, tên column phân biệt chữ hoa chữ thường</a:t>
            </a:r>
          </a:p>
          <a:p>
            <a:r>
              <a:rPr lang="en-US" sz="2400"/>
              <a:t>Có thể sử dụng với Java Object, Java Constructor, Java Varriable,…</a:t>
            </a:r>
          </a:p>
        </p:txBody>
      </p:sp>
    </p:spTree>
    <p:extLst>
      <p:ext uri="{BB962C8B-B14F-4D97-AF65-F5344CB8AC3E}">
        <p14:creationId xmlns:p14="http://schemas.microsoft.com/office/powerpoint/2010/main" val="28469120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DF6A-4FA0-2037-DDCC-46363EA7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19633DB-7834-148E-17E1-770CAE471A3B}"/>
              </a:ext>
            </a:extLst>
          </p:cNvPr>
          <p:cNvSpPr txBox="1">
            <a:spLocks/>
          </p:cNvSpPr>
          <p:nvPr/>
        </p:nvSpPr>
        <p:spPr>
          <a:xfrm>
            <a:off x="-1948256" y="-1852603"/>
            <a:ext cx="2891749" cy="874750"/>
          </a:xfrm>
          <a:prstGeom prst="rect">
            <a:avLst/>
          </a:prstGeom>
        </p:spPr>
        <p:txBody>
          <a:bodyPr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0" marR="0" indent="2286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0" marR="0" indent="4572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0" marR="0" indent="6858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0" marR="0" indent="9144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0" marR="0" indent="11430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0" marR="0" indent="13716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0" marR="0" indent="16002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0" marR="0" indent="182880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1800" dirty="0"/>
              <a:t> Select </a:t>
            </a:r>
          </a:p>
          <a:p>
            <a:pPr marL="873125" lvl="1" indent="-428625" hangingPunct="1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E52B6C-F500-3344-2317-B8C15AD7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68574"/>
            <a:ext cx="7136444" cy="455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125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C006-A183-8367-6355-F7CDC5B5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D50E3-90BC-1F19-1933-95A013FC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37" y="2072448"/>
            <a:ext cx="8367485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032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79F3-2939-BF87-E0A7-CB74593C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FB19D-995F-7D3E-7142-D0EE71283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0" y="2081343"/>
            <a:ext cx="9693480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308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E975-DA42-BF65-34B1-FDB48198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1F61B-5088-A96C-4031-4C36C07FF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01" y="2000057"/>
            <a:ext cx="9883997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316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FB4E-9C2F-7374-5D72-34D24E6F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53AF6-D7BE-80BC-88DC-8F7727C64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86" y="1976139"/>
            <a:ext cx="8862828" cy="45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311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7687-9F99-C635-62E6-B9EFCE22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642C-5286-3C4E-C1B6-832FBA0E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280" y="1923627"/>
            <a:ext cx="8981440" cy="1791546"/>
          </a:xfrm>
        </p:spPr>
        <p:txBody>
          <a:bodyPr/>
          <a:lstStyle/>
          <a:p>
            <a:r>
              <a:rPr lang="en-US"/>
              <a:t>Native SQL Query</a:t>
            </a:r>
          </a:p>
          <a:p>
            <a:r>
              <a:rPr lang="en-US"/>
              <a:t>Có thể sử dụng với SQL Field, SQL Table,… SQL</a:t>
            </a:r>
          </a:p>
          <a:p>
            <a:r>
              <a:rPr lang="en-US"/>
              <a:t>Call Function</a:t>
            </a:r>
          </a:p>
          <a:p>
            <a:r>
              <a:rPr lang="en-US"/>
              <a:t>Call Procedure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F6F6E-BC88-B22F-640C-415B576F7275}"/>
              </a:ext>
            </a:extLst>
          </p:cNvPr>
          <p:cNvSpPr txBox="1"/>
          <p:nvPr/>
        </p:nvSpPr>
        <p:spPr>
          <a:xfrm>
            <a:off x="1605280" y="3901440"/>
            <a:ext cx="866648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public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List&lt;Product&gt; </a:t>
            </a:r>
            <a:r>
              <a:rPr lang="en-US" sz="1800">
                <a:solidFill>
                  <a:srgbClr val="FFC66D"/>
                </a:solidFill>
                <a:effectLst/>
                <a:latin typeface="JetBrains Mono"/>
              </a:rPr>
              <a:t>findProductsSQL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EntityManager em = </a:t>
            </a:r>
            <a:r>
              <a:rPr lang="en-US" sz="1800">
                <a:solidFill>
                  <a:srgbClr val="9876AA"/>
                </a:solidFill>
                <a:effectLst/>
                <a:latin typeface="JetBrains Mono"/>
              </a:rPr>
              <a:t>databaseUtils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.getEntityManager()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try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em.createNativeQuery(</a:t>
            </a:r>
            <a:r>
              <a:rPr lang="en-US" sz="1800">
                <a:solidFill>
                  <a:srgbClr val="6A8759"/>
                </a:solidFill>
                <a:effectLst/>
                <a:latin typeface="JetBrains Mono"/>
              </a:rPr>
              <a:t>"select * from products"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Product.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class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).getResultList()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catch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(Exception ex) {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throw new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RuntimeException(ex)</a:t>
            </a: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180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77131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B58C-E800-0057-498E-736674B9F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 &amp;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A6604-7A19-C0DC-8150-4893A047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40" y="2255520"/>
            <a:ext cx="8981440" cy="3613574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Nên sử dụng HQL hay SQL?</a:t>
            </a:r>
          </a:p>
        </p:txBody>
      </p:sp>
    </p:spTree>
    <p:extLst>
      <p:ext uri="{BB962C8B-B14F-4D97-AF65-F5344CB8AC3E}">
        <p14:creationId xmlns:p14="http://schemas.microsoft.com/office/powerpoint/2010/main" val="27857906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C622-4E90-BAEF-ACB5-6BAAD910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 &amp; 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2219F-01FE-2A88-D75A-1BA2932E6715}"/>
              </a:ext>
            </a:extLst>
          </p:cNvPr>
          <p:cNvSpPr txBox="1"/>
          <p:nvPr/>
        </p:nvSpPr>
        <p:spPr>
          <a:xfrm>
            <a:off x="2844800" y="261726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6A8759"/>
                </a:solidFill>
                <a:effectLst/>
                <a:latin typeface="JetBrains Mono"/>
              </a:rPr>
              <a:t>Select</a:t>
            </a:r>
            <a:r>
              <a:rPr lang="en-US" sz="2400">
                <a:solidFill>
                  <a:srgbClr val="6A8759"/>
                </a:solidFill>
                <a:latin typeface="JetBrains Mono"/>
              </a:rPr>
              <a:t> p from Product p</a:t>
            </a:r>
            <a:endParaRPr lang="en-US" sz="240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FF3AC-2C7A-7E73-92F9-85ECFB25C3C3}"/>
              </a:ext>
            </a:extLst>
          </p:cNvPr>
          <p:cNvSpPr txBox="1"/>
          <p:nvPr/>
        </p:nvSpPr>
        <p:spPr>
          <a:xfrm>
            <a:off x="2397760" y="21059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6A8759"/>
                </a:solidFill>
                <a:effectLst/>
                <a:latin typeface="JetBrains Mono"/>
              </a:rPr>
              <a:t>HQL</a:t>
            </a:r>
            <a:endParaRPr lang="en-US" sz="2400">
              <a:solidFill>
                <a:srgbClr val="A9B7C6"/>
              </a:solidFill>
              <a:effectLst/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C36A9-FF24-C580-04F2-8CF30E0CAF71}"/>
              </a:ext>
            </a:extLst>
          </p:cNvPr>
          <p:cNvSpPr txBox="1"/>
          <p:nvPr/>
        </p:nvSpPr>
        <p:spPr>
          <a:xfrm>
            <a:off x="2397760" y="3244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A9B7C6"/>
                </a:solidFill>
                <a:effectLst/>
                <a:latin typeface="JetBrains Mono"/>
              </a:rPr>
              <a:t>SQL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DA1D8B-A16E-99CE-BAA1-355646B1171B}"/>
              </a:ext>
            </a:extLst>
          </p:cNvPr>
          <p:cNvGrpSpPr/>
          <p:nvPr/>
        </p:nvGrpSpPr>
        <p:grpSpPr>
          <a:xfrm>
            <a:off x="2844800" y="3840480"/>
            <a:ext cx="7467600" cy="1254146"/>
            <a:chOff x="1473200" y="3244333"/>
            <a:chExt cx="7467600" cy="12541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5471B2-297F-BB63-F59A-4E7C1DD5B7A5}"/>
                </a:ext>
              </a:extLst>
            </p:cNvPr>
            <p:cNvSpPr txBox="1"/>
            <p:nvPr/>
          </p:nvSpPr>
          <p:spPr>
            <a:xfrm>
              <a:off x="2844800" y="3244334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rgbClr val="6A8759"/>
                  </a:solidFill>
                  <a:latin typeface="JetBrains Mono"/>
                </a:rPr>
                <a:t>S</a:t>
              </a:r>
              <a:r>
                <a:rPr lang="en-US" sz="2400">
                  <a:solidFill>
                    <a:srgbClr val="6A8759"/>
                  </a:solidFill>
                  <a:effectLst/>
                  <a:latin typeface="JetBrains Mono"/>
                </a:rPr>
                <a:t>elect top 10 * from products</a:t>
              </a:r>
              <a:endParaRPr lang="en-US" sz="2400">
                <a:solidFill>
                  <a:srgbClr val="A9B7C6"/>
                </a:solidFill>
                <a:effectLst/>
                <a:latin typeface="JetBrains Mono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D970A3-6C49-0652-91B4-15EE04C3D9C3}"/>
                </a:ext>
              </a:extLst>
            </p:cNvPr>
            <p:cNvSpPr txBox="1"/>
            <p:nvPr/>
          </p:nvSpPr>
          <p:spPr>
            <a:xfrm>
              <a:off x="2844800" y="4036814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rgbClr val="6A8759"/>
                  </a:solidFill>
                  <a:latin typeface="JetBrains Mono"/>
                </a:rPr>
                <a:t>S</a:t>
              </a:r>
              <a:r>
                <a:rPr lang="en-US" sz="2400">
                  <a:solidFill>
                    <a:srgbClr val="6A8759"/>
                  </a:solidFill>
                  <a:effectLst/>
                  <a:latin typeface="JetBrains Mono"/>
                </a:rPr>
                <a:t>elect * from products limit 10</a:t>
              </a:r>
              <a:endParaRPr lang="en-US" sz="2400">
                <a:solidFill>
                  <a:srgbClr val="A9B7C6"/>
                </a:solidFill>
                <a:effectLst/>
                <a:latin typeface="JetBrains Mono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7EFD9F-0F14-08BB-E935-E8FD5B839BBC}"/>
                </a:ext>
              </a:extLst>
            </p:cNvPr>
            <p:cNvSpPr txBox="1"/>
            <p:nvPr/>
          </p:nvSpPr>
          <p:spPr>
            <a:xfrm>
              <a:off x="1473200" y="3244333"/>
              <a:ext cx="1371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rgbClr val="A9B7C6"/>
                  </a:solidFill>
                  <a:effectLst/>
                  <a:latin typeface="JetBrains Mono"/>
                </a:rPr>
                <a:t>MS SQL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850358-C60C-36F8-501A-C44F44405EC5}"/>
                </a:ext>
              </a:extLst>
            </p:cNvPr>
            <p:cNvSpPr txBox="1"/>
            <p:nvPr/>
          </p:nvSpPr>
          <p:spPr>
            <a:xfrm>
              <a:off x="1473200" y="4036814"/>
              <a:ext cx="1371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rgbClr val="A9B7C6"/>
                  </a:solidFill>
                  <a:effectLst/>
                  <a:latin typeface="JetBrains Mono"/>
                </a:rPr>
                <a:t>MY 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45082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2FEF-F793-56F4-CB19-3FA8516B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HQL &amp; SQL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18F6E38-65D2-6664-B5BE-F94B591DC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352846"/>
              </p:ext>
            </p:extLst>
          </p:nvPr>
        </p:nvGraphicFramePr>
        <p:xfrm>
          <a:off x="1783080" y="2275840"/>
          <a:ext cx="862584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98">
                  <a:extLst>
                    <a:ext uri="{9D8B030D-6E8A-4147-A177-3AD203B41FA5}">
                      <a16:colId xmlns:a16="http://schemas.microsoft.com/office/drawing/2014/main" val="1942768430"/>
                    </a:ext>
                  </a:extLst>
                </a:gridCol>
                <a:gridCol w="3301962">
                  <a:extLst>
                    <a:ext uri="{9D8B030D-6E8A-4147-A177-3AD203B41FA5}">
                      <a16:colId xmlns:a16="http://schemas.microsoft.com/office/drawing/2014/main" val="640935444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3417775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94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Tương thích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Có thể chạy trên nhiều database khác nhau, dễ dàng migrate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Chỉ chạy trên 1 database xác định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9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Tốc độ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Cần translate -&gt;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Không cần translate</a:t>
                      </a:r>
                    </a:p>
                    <a:p>
                      <a:r>
                        <a:rPr lang="en-US"/>
                        <a:t>Được thực thi trực tiếp bởi JDBC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20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Không cần quan tâm đến tên table, tên column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Cần quan tâm đến tên table, tên column</a:t>
                      </a:r>
                    </a:p>
                    <a:p>
                      <a:r>
                        <a:rPr lang="en-US"/>
                        <a:t>Khi thay đổi tên table, tên column cần phải thay đổi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47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Không phải query nào cũng thực hiện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Thực hiện được tất cả các câu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98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8448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779F603-B669-4AD6-82F9-E09F7616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434B2-1CC6-23F1-C3EA-78B51FD2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BFD994-C2DC-4E7D-9411-C7FF7813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C0D1FC6-352C-4C7D-825F-C4E2F6A80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1AFC2C-CD98-4478-AB71-1A864026D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52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1327</TotalTime>
  <Words>6987</Words>
  <Application>Microsoft Office PowerPoint</Application>
  <PresentationFormat>Widescreen</PresentationFormat>
  <Paragraphs>293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3" baseType="lpstr">
      <vt:lpstr>Calibri</vt:lpstr>
      <vt:lpstr>Calibri Light</vt:lpstr>
      <vt:lpstr>Courier New</vt:lpstr>
      <vt:lpstr>JetBrains Mono</vt:lpstr>
      <vt:lpstr>Times New Roman</vt:lpstr>
      <vt:lpstr>Wingdings</vt:lpstr>
      <vt:lpstr>Retrospect</vt:lpstr>
      <vt:lpstr>Advanced Java</vt:lpstr>
      <vt:lpstr>Enum</vt:lpstr>
      <vt:lpstr>Enum</vt:lpstr>
      <vt:lpstr>Enum - Enumerated()</vt:lpstr>
      <vt:lpstr>Enum – Enumerated()</vt:lpstr>
      <vt:lpstr>Enum – Enumeration(EnumType.STRING)</vt:lpstr>
      <vt:lpstr>Enum – Enumerated()</vt:lpstr>
      <vt:lpstr>Sử dụng ORDINAL hay STRING?</vt:lpstr>
      <vt:lpstr>Generator</vt:lpstr>
      <vt:lpstr>Generator IDENTITY</vt:lpstr>
      <vt:lpstr>Generator IDENTITY</vt:lpstr>
      <vt:lpstr>Delete Item IDENTITY</vt:lpstr>
      <vt:lpstr>Generator UUID</vt:lpstr>
      <vt:lpstr>Generator SEQUENCE</vt:lpstr>
      <vt:lpstr>Generator SEQUENCE</vt:lpstr>
      <vt:lpstr>Generator Auto</vt:lpstr>
      <vt:lpstr>Generator Custom</vt:lpstr>
      <vt:lpstr>Generator</vt:lpstr>
      <vt:lpstr>Primary Key</vt:lpstr>
      <vt:lpstr>Primary Key – Single</vt:lpstr>
      <vt:lpstr>Primary Key - Multiple</vt:lpstr>
      <vt:lpstr>Primary Key - Multiple</vt:lpstr>
      <vt:lpstr>Primary Key - Multiple</vt:lpstr>
      <vt:lpstr>Primary Key - Multiple</vt:lpstr>
      <vt:lpstr>Many – Many</vt:lpstr>
      <vt:lpstr>Many - Many</vt:lpstr>
      <vt:lpstr>One - One</vt:lpstr>
      <vt:lpstr>One - One</vt:lpstr>
      <vt:lpstr>One – One</vt:lpstr>
      <vt:lpstr>One – One</vt:lpstr>
      <vt:lpstr>One – One</vt:lpstr>
      <vt:lpstr>One – One</vt:lpstr>
      <vt:lpstr>One – One</vt:lpstr>
      <vt:lpstr>One - One</vt:lpstr>
      <vt:lpstr>One - Many</vt:lpstr>
      <vt:lpstr>One - Many</vt:lpstr>
      <vt:lpstr>One - Many</vt:lpstr>
      <vt:lpstr>One - Many</vt:lpstr>
      <vt:lpstr>One - Many</vt:lpstr>
      <vt:lpstr>One - Many</vt:lpstr>
      <vt:lpstr>One - Many</vt:lpstr>
      <vt:lpstr>One – Many Collection</vt:lpstr>
      <vt:lpstr>One – Many Collection</vt:lpstr>
      <vt:lpstr>One – Many Collection</vt:lpstr>
      <vt:lpstr>One – Many Collection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Many</vt:lpstr>
      <vt:lpstr>Many - Billion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Fetch</vt:lpstr>
      <vt:lpstr>HQL</vt:lpstr>
      <vt:lpstr>HQL</vt:lpstr>
      <vt:lpstr>HQL</vt:lpstr>
      <vt:lpstr>HQL</vt:lpstr>
      <vt:lpstr>HQL</vt:lpstr>
      <vt:lpstr>HQL</vt:lpstr>
      <vt:lpstr>SQL</vt:lpstr>
      <vt:lpstr>HQL &amp; SQL</vt:lpstr>
      <vt:lpstr>HQL &amp; SQL</vt:lpstr>
      <vt:lpstr>HQL &amp; SQL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Java</dc:title>
  <dc:creator>Thanh Tâm Nguyễn</dc:creator>
  <cp:lastModifiedBy>Thanh Tâm Nguyễn</cp:lastModifiedBy>
  <cp:revision>6</cp:revision>
  <dcterms:created xsi:type="dcterms:W3CDTF">2023-09-13T09:20:03Z</dcterms:created>
  <dcterms:modified xsi:type="dcterms:W3CDTF">2023-09-15T15:27:51Z</dcterms:modified>
</cp:coreProperties>
</file>