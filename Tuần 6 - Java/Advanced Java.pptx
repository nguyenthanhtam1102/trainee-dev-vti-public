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0" r:id="rId4"/>
    <p:sldId id="258" r:id="rId5"/>
    <p:sldId id="259" r:id="rId6"/>
    <p:sldId id="356" r:id="rId7"/>
    <p:sldId id="261" r:id="rId8"/>
    <p:sldId id="262" r:id="rId9"/>
    <p:sldId id="263" r:id="rId10"/>
    <p:sldId id="264" r:id="rId11"/>
    <p:sldId id="265" r:id="rId12"/>
    <p:sldId id="266" r:id="rId13"/>
    <p:sldId id="357" r:id="rId14"/>
    <p:sldId id="267" r:id="rId15"/>
    <p:sldId id="268" r:id="rId16"/>
    <p:sldId id="358" r:id="rId17"/>
    <p:sldId id="275" r:id="rId18"/>
    <p:sldId id="269" r:id="rId19"/>
    <p:sldId id="359" r:id="rId20"/>
    <p:sldId id="361" r:id="rId21"/>
    <p:sldId id="270" r:id="rId22"/>
    <p:sldId id="271" r:id="rId23"/>
    <p:sldId id="360" r:id="rId24"/>
    <p:sldId id="276" r:id="rId25"/>
    <p:sldId id="272" r:id="rId26"/>
    <p:sldId id="273" r:id="rId27"/>
    <p:sldId id="362" r:id="rId28"/>
    <p:sldId id="353" r:id="rId29"/>
    <p:sldId id="313" r:id="rId30"/>
    <p:sldId id="364" r:id="rId31"/>
    <p:sldId id="363" r:id="rId32"/>
    <p:sldId id="365" r:id="rId33"/>
    <p:sldId id="274" r:id="rId34"/>
    <p:sldId id="277" r:id="rId35"/>
    <p:sldId id="367" r:id="rId36"/>
    <p:sldId id="370" r:id="rId37"/>
    <p:sldId id="375" r:id="rId38"/>
    <p:sldId id="366" r:id="rId39"/>
    <p:sldId id="368" r:id="rId40"/>
    <p:sldId id="371" r:id="rId41"/>
    <p:sldId id="376" r:id="rId42"/>
    <p:sldId id="369" r:id="rId43"/>
    <p:sldId id="377" r:id="rId44"/>
    <p:sldId id="372" r:id="rId45"/>
    <p:sldId id="373" r:id="rId46"/>
    <p:sldId id="278" r:id="rId47"/>
    <p:sldId id="279" r:id="rId48"/>
    <p:sldId id="378" r:id="rId49"/>
    <p:sldId id="379" r:id="rId50"/>
    <p:sldId id="380" r:id="rId51"/>
    <p:sldId id="280" r:id="rId52"/>
    <p:sldId id="281" r:id="rId53"/>
    <p:sldId id="283" r:id="rId54"/>
    <p:sldId id="285" r:id="rId55"/>
    <p:sldId id="282" r:id="rId56"/>
    <p:sldId id="381" r:id="rId57"/>
    <p:sldId id="383" r:id="rId58"/>
    <p:sldId id="382" r:id="rId59"/>
    <p:sldId id="288" r:id="rId60"/>
    <p:sldId id="289" r:id="rId61"/>
    <p:sldId id="290" r:id="rId62"/>
    <p:sldId id="291" r:id="rId63"/>
    <p:sldId id="292" r:id="rId64"/>
    <p:sldId id="294" r:id="rId65"/>
    <p:sldId id="293" r:id="rId66"/>
    <p:sldId id="296" r:id="rId67"/>
    <p:sldId id="297" r:id="rId68"/>
    <p:sldId id="298" r:id="rId69"/>
    <p:sldId id="299" r:id="rId70"/>
    <p:sldId id="295" r:id="rId71"/>
    <p:sldId id="300" r:id="rId72"/>
    <p:sldId id="301" r:id="rId73"/>
    <p:sldId id="302" r:id="rId74"/>
    <p:sldId id="303" r:id="rId75"/>
    <p:sldId id="304" r:id="rId76"/>
    <p:sldId id="305" r:id="rId77"/>
    <p:sldId id="384" r:id="rId78"/>
    <p:sldId id="307" r:id="rId79"/>
    <p:sldId id="308" r:id="rId80"/>
    <p:sldId id="309" r:id="rId81"/>
    <p:sldId id="310" r:id="rId82"/>
    <p:sldId id="311" r:id="rId83"/>
    <p:sldId id="312" r:id="rId84"/>
    <p:sldId id="317" r:id="rId85"/>
    <p:sldId id="318" r:id="rId86"/>
    <p:sldId id="386" r:id="rId87"/>
    <p:sldId id="316" r:id="rId88"/>
    <p:sldId id="320" r:id="rId89"/>
    <p:sldId id="319" r:id="rId90"/>
    <p:sldId id="321" r:id="rId91"/>
    <p:sldId id="323" r:id="rId92"/>
    <p:sldId id="322" r:id="rId93"/>
    <p:sldId id="333" r:id="rId94"/>
    <p:sldId id="325" r:id="rId95"/>
    <p:sldId id="326" r:id="rId96"/>
    <p:sldId id="327" r:id="rId97"/>
    <p:sldId id="328" r:id="rId98"/>
    <p:sldId id="337" r:id="rId99"/>
    <p:sldId id="332" r:id="rId100"/>
    <p:sldId id="336" r:id="rId101"/>
    <p:sldId id="331" r:id="rId102"/>
    <p:sldId id="334" r:id="rId103"/>
    <p:sldId id="338" r:id="rId104"/>
    <p:sldId id="324" r:id="rId105"/>
    <p:sldId id="329" r:id="rId106"/>
    <p:sldId id="335" r:id="rId107"/>
    <p:sldId id="330" r:id="rId108"/>
    <p:sldId id="385" r:id="rId109"/>
    <p:sldId id="340" r:id="rId110"/>
    <p:sldId id="341" r:id="rId111"/>
    <p:sldId id="342" r:id="rId112"/>
    <p:sldId id="343" r:id="rId113"/>
    <p:sldId id="347" r:id="rId114"/>
    <p:sldId id="344" r:id="rId115"/>
    <p:sldId id="345" r:id="rId116"/>
    <p:sldId id="346" r:id="rId117"/>
    <p:sldId id="349" r:id="rId118"/>
    <p:sldId id="350" r:id="rId119"/>
    <p:sldId id="351" r:id="rId120"/>
    <p:sldId id="387" r:id="rId121"/>
    <p:sldId id="388" r:id="rId122"/>
    <p:sldId id="389" r:id="rId123"/>
    <p:sldId id="352" r:id="rId1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793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15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14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095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40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811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95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11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03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749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DCE111F-D70A-48A8-948D-76A567D602FD}" type="datetimeFigureOut">
              <a:rPr lang="en-US" smtClean="0"/>
              <a:t>9/22/2023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CFBF142-45E8-4873-B6A8-53DBB9AB21C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1097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65989-E877-984A-6F34-859EE1489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3"/>
            <a:ext cx="10058400" cy="2376134"/>
          </a:xfrm>
        </p:spPr>
        <p:txBody>
          <a:bodyPr/>
          <a:lstStyle/>
          <a:p>
            <a:pPr algn="ctr"/>
            <a:r>
              <a:rPr lang="en-US"/>
              <a:t>Advanced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810F28-4EB9-A050-55DC-8B16A7690B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1331" y="3877123"/>
            <a:ext cx="6679756" cy="1143000"/>
          </a:xfrm>
        </p:spPr>
        <p:txBody>
          <a:bodyPr/>
          <a:lstStyle/>
          <a:p>
            <a:r>
              <a:rPr lang="en-US"/>
              <a:t>Người thực hiện: nguyễn thanh tâm</a:t>
            </a:r>
          </a:p>
          <a:p>
            <a:r>
              <a:rPr lang="en-US"/>
              <a:t>Mentor hướng dẫn: trương minh tuấn</a:t>
            </a:r>
          </a:p>
        </p:txBody>
      </p:sp>
    </p:spTree>
    <p:extLst>
      <p:ext uri="{BB962C8B-B14F-4D97-AF65-F5344CB8AC3E}">
        <p14:creationId xmlns:p14="http://schemas.microsoft.com/office/powerpoint/2010/main" val="38410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B087B-E85F-DBA0-D6EF-4D639F4F3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74F6F-3B69-C3BB-C581-889B00B6EC99}"/>
              </a:ext>
            </a:extLst>
          </p:cNvPr>
          <p:cNvSpPr txBox="1"/>
          <p:nvPr/>
        </p:nvSpPr>
        <p:spPr>
          <a:xfrm>
            <a:off x="3716693" y="2183363"/>
            <a:ext cx="4758613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enum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 b="1">
                <a:solidFill>
                  <a:srgbClr val="A9B7C6"/>
                </a:solidFill>
                <a:effectLst/>
                <a:latin typeface="JetBrains Mono"/>
              </a:rPr>
              <a:t>    </a:t>
            </a:r>
          </a:p>
          <a:p>
            <a:r>
              <a:rPr lang="en-US" sz="1800" b="1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 b="1">
                <a:solidFill>
                  <a:srgbClr val="808080"/>
                </a:solidFill>
                <a:effectLst/>
                <a:latin typeface="JetBrains Mono"/>
              </a:rPr>
              <a:t>// VALUE               			// ORDINAL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0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WAITING_PICKUP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       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1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IN_PROGRESS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          	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2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DELIVERED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>
                <a:solidFill>
                  <a:srgbClr val="CC7832"/>
                </a:solidFill>
                <a:latin typeface="JetBrains Mono"/>
              </a:rPr>
              <a:t>	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			 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3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            	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4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CANCELED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             	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5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RETURNED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              	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6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REFUND_SUCCESSFUL       		</a:t>
            </a: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// ordinal 7</a:t>
            </a: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3678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476B4-9C04-5705-6E77-FEF1BB87E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497C8-B924-3B9B-624C-F09D19157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2385" y="2938014"/>
            <a:ext cx="7447229" cy="1242100"/>
          </a:xfrm>
        </p:spPr>
        <p:txBody>
          <a:bodyPr>
            <a:normAutofit fontScale="92500" lnSpcReduction="20000"/>
          </a:bodyPr>
          <a:lstStyle/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()</a:t>
            </a:r>
            <a:endParaRPr lang="en-US" sz="2400">
              <a:solidFill>
                <a:srgbClr val="BBB529"/>
              </a:solidFill>
              <a:effectLst/>
              <a:latin typeface="JetBrains Mono"/>
            </a:endParaRPr>
          </a:p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2400">
                <a:solidFill>
                  <a:srgbClr val="808080"/>
                </a:solidFill>
                <a:effectLst/>
                <a:latin typeface="JetBrains Mono"/>
              </a:rPr>
              <a:t>EnumType.ORDINAL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)  (default)</a:t>
            </a:r>
          </a:p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2400">
                <a:solidFill>
                  <a:srgbClr val="808080"/>
                </a:solidFill>
                <a:effectLst/>
                <a:latin typeface="JetBrains Mono"/>
              </a:rPr>
              <a:t>EnumType.STRING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7850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10487-30BE-B7C0-2868-E78A656F4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49076"/>
            <a:ext cx="10058400" cy="749095"/>
          </a:xfrm>
        </p:spPr>
        <p:txBody>
          <a:bodyPr/>
          <a:lstStyle/>
          <a:p>
            <a:r>
              <a:rPr lang="en-US"/>
              <a:t>Enum - Enumerated()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23EF5-E070-934F-980F-5D110785C34C}"/>
              </a:ext>
            </a:extLst>
          </p:cNvPr>
          <p:cNvSpPr txBox="1"/>
          <p:nvPr/>
        </p:nvSpPr>
        <p:spPr>
          <a:xfrm>
            <a:off x="658742" y="2090056"/>
            <a:ext cx="5707224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ED408-1E1B-BEBF-D1EC-A73EC192DB39}"/>
              </a:ext>
            </a:extLst>
          </p:cNvPr>
          <p:cNvSpPr txBox="1"/>
          <p:nvPr/>
        </p:nvSpPr>
        <p:spPr>
          <a:xfrm>
            <a:off x="6532050" y="2090056"/>
            <a:ext cx="5001208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 orderService = context.getBean(OrderService.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order1 = orderService.save(order1)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0F54CA-1F6D-9E77-F478-A243CE5E9047}"/>
              </a:ext>
            </a:extLst>
          </p:cNvPr>
          <p:cNvSpPr/>
          <p:nvPr/>
        </p:nvSpPr>
        <p:spPr>
          <a:xfrm>
            <a:off x="774441" y="4814596"/>
            <a:ext cx="1987420" cy="34523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068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49B7D-B08D-3153-EEBE-C5980F3C7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Enum – Enumerated()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EA5418-014A-8C1A-E709-4CDC4D038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47747"/>
          <a:stretch/>
        </p:blipFill>
        <p:spPr>
          <a:xfrm>
            <a:off x="1055999" y="3626984"/>
            <a:ext cx="4323619" cy="1621824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333A7B-7558-7970-F084-DDF2E0CCA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797" y="3385452"/>
            <a:ext cx="5897478" cy="210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784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52A9C-D186-D998-43AC-F8DE15430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/>
              <a:t>Enum</a:t>
            </a:r>
            <a:r>
              <a:rPr lang="en-US"/>
              <a:t> - </a:t>
            </a:r>
            <a:r>
              <a:rPr lang="en-US" sz="44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4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4400">
                <a:solidFill>
                  <a:srgbClr val="808080"/>
                </a:solidFill>
                <a:effectLst/>
                <a:latin typeface="JetBrains Mono"/>
              </a:rPr>
              <a:t>EnumType.ORDINAL</a:t>
            </a:r>
            <a:r>
              <a:rPr lang="en-US" sz="4400">
                <a:solidFill>
                  <a:srgbClr val="A9B7C6"/>
                </a:solidFill>
                <a:effectLst/>
                <a:latin typeface="JetBrains Mono"/>
              </a:rPr>
              <a:t>)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62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4DC47-9F82-6D62-9606-AC334E679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005199"/>
            <a:ext cx="10058400" cy="702303"/>
          </a:xfrm>
        </p:spPr>
        <p:txBody>
          <a:bodyPr>
            <a:normAutofit fontScale="90000"/>
          </a:bodyPr>
          <a:lstStyle/>
          <a:p>
            <a:r>
              <a:rPr lang="en-US"/>
              <a:t>Enum – Enumeration(EnumType.STRING)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2DAB4-C058-0901-13F3-CD60A0689C3A}"/>
              </a:ext>
            </a:extLst>
          </p:cNvPr>
          <p:cNvSpPr txBox="1"/>
          <p:nvPr/>
        </p:nvSpPr>
        <p:spPr>
          <a:xfrm>
            <a:off x="658742" y="2072552"/>
            <a:ext cx="5707224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(EnumType.STRING)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D7C1F3-4C9F-D474-6725-08C5A7BE692C}"/>
              </a:ext>
            </a:extLst>
          </p:cNvPr>
          <p:cNvSpPr/>
          <p:nvPr/>
        </p:nvSpPr>
        <p:spPr>
          <a:xfrm>
            <a:off x="802432" y="4749282"/>
            <a:ext cx="3573625" cy="401216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BDE97-BEE4-DC57-FD6D-6D2E449F09A7}"/>
              </a:ext>
            </a:extLst>
          </p:cNvPr>
          <p:cNvSpPr txBox="1"/>
          <p:nvPr/>
        </p:nvSpPr>
        <p:spPr>
          <a:xfrm>
            <a:off x="6532050" y="2090056"/>
            <a:ext cx="5001208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 orderService = context.getBean(OrderService.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order1 = orderService.save(order1)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74275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DBE0B-AC1C-177E-20B2-931B961C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Enum – Enumeration(EnumType.STRING)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A6D4A4-7F30-C848-C2B8-1B11D6B3F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51" y="3932174"/>
            <a:ext cx="4401726" cy="14507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6ADF7B-9208-A6C0-E9DE-8A302FC5A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970" y="3556957"/>
            <a:ext cx="6167297" cy="2201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C6A15D-C138-FE1D-3B48-9F676211C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51" y="2118272"/>
            <a:ext cx="6647616" cy="118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13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lowchart: Manual Input 5">
            <a:extLst>
              <a:ext uri="{FF2B5EF4-FFF2-40B4-BE49-F238E27FC236}">
                <a16:creationId xmlns:a16="http://schemas.microsoft.com/office/drawing/2014/main" id="{A8F91E38-1D0F-A0A9-0693-ABDAC902F1CA}"/>
              </a:ext>
            </a:extLst>
          </p:cNvPr>
          <p:cNvSpPr/>
          <p:nvPr/>
        </p:nvSpPr>
        <p:spPr>
          <a:xfrm rot="5400000">
            <a:off x="3824422" y="1776354"/>
            <a:ext cx="1250302" cy="3566550"/>
          </a:xfrm>
          <a:prstGeom prst="flowChartManualIn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0BE20F-6B9C-4BA5-6802-D4F60F7B9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ORDINAL hay STRING?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DC2CE7-83D5-28AC-6E29-A4F856926E8C}"/>
              </a:ext>
            </a:extLst>
          </p:cNvPr>
          <p:cNvSpPr/>
          <p:nvPr/>
        </p:nvSpPr>
        <p:spPr>
          <a:xfrm>
            <a:off x="2970831" y="3097964"/>
            <a:ext cx="276069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ORDINAL</a:t>
            </a:r>
          </a:p>
        </p:txBody>
      </p:sp>
      <p:sp>
        <p:nvSpPr>
          <p:cNvPr id="7" name="Flowchart: Manual Input 6">
            <a:extLst>
              <a:ext uri="{FF2B5EF4-FFF2-40B4-BE49-F238E27FC236}">
                <a16:creationId xmlns:a16="http://schemas.microsoft.com/office/drawing/2014/main" id="{9032F5AE-15A4-0558-A888-5DF99844F46D}"/>
              </a:ext>
            </a:extLst>
          </p:cNvPr>
          <p:cNvSpPr/>
          <p:nvPr/>
        </p:nvSpPr>
        <p:spPr>
          <a:xfrm rot="5400000" flipH="1" flipV="1">
            <a:off x="6738684" y="1776354"/>
            <a:ext cx="1250302" cy="3566550"/>
          </a:xfrm>
          <a:prstGeom prst="flowChartManualInpu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50272E-54A5-A404-DADE-C1B5FF2E5C82}"/>
              </a:ext>
            </a:extLst>
          </p:cNvPr>
          <p:cNvSpPr/>
          <p:nvPr/>
        </p:nvSpPr>
        <p:spPr>
          <a:xfrm>
            <a:off x="6373945" y="3097964"/>
            <a:ext cx="227184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54312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2E9C8-B1D1-CA64-5727-5EA183E68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0BF1E-97BF-0477-8D54-3DBFB52F7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9754" y="2479940"/>
            <a:ext cx="8858483" cy="2959807"/>
          </a:xfrm>
        </p:spPr>
        <p:txBody>
          <a:bodyPr>
            <a:normAutofit lnSpcReduction="10000"/>
          </a:bodyPr>
          <a:lstStyle/>
          <a:p>
            <a:r>
              <a:rPr lang="en-US" sz="2800"/>
              <a:t>Tạo dữ liệu tự động</a:t>
            </a:r>
          </a:p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(strategy, generator)</a:t>
            </a:r>
          </a:p>
          <a:p>
            <a:pPr lvl="1" hangingPunct="1">
              <a:buFont typeface="Courier New" panose="02070309020205020404" pitchFamily="49" charset="0"/>
              <a:buChar char="o"/>
            </a:pPr>
            <a:r>
              <a:rPr lang="en-US" sz="2400"/>
              <a:t> GenerationType.IDENTITY</a:t>
            </a:r>
          </a:p>
          <a:p>
            <a:pPr lvl="1" hangingPunct="1">
              <a:buFont typeface="Courier New" panose="02070309020205020404" pitchFamily="49" charset="0"/>
              <a:buChar char="o"/>
            </a:pPr>
            <a:r>
              <a:rPr lang="en-US" sz="2400"/>
              <a:t> GenerationType.SEQUENCE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400"/>
              <a:t>GenerationType.UUID</a:t>
            </a:r>
          </a:p>
          <a:p>
            <a:pPr lvl="1" hangingPunct="1">
              <a:buFont typeface="Courier New" panose="02070309020205020404" pitchFamily="49" charset="0"/>
              <a:buChar char="o"/>
            </a:pPr>
            <a:r>
              <a:rPr lang="en-US" sz="2400"/>
              <a:t> GenerationType.AUTO (default)</a:t>
            </a:r>
          </a:p>
          <a:p>
            <a:pPr lvl="1" hangingPunct="1">
              <a:buFont typeface="Courier New" panose="02070309020205020404" pitchFamily="49" charset="0"/>
              <a:buChar char="o"/>
            </a:pPr>
            <a:r>
              <a:rPr lang="en-US" sz="2400"/>
              <a:t> Custom Generator</a:t>
            </a:r>
          </a:p>
        </p:txBody>
      </p:sp>
    </p:spTree>
    <p:extLst>
      <p:ext uri="{BB962C8B-B14F-4D97-AF65-F5344CB8AC3E}">
        <p14:creationId xmlns:p14="http://schemas.microsoft.com/office/powerpoint/2010/main" val="2610905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3EFEC-E7AB-9B2B-F97F-A72DEF104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D532B-AD47-8F10-A98C-9964A92BF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481943"/>
            <a:ext cx="10058400" cy="1110344"/>
          </a:xfrm>
        </p:spPr>
        <p:txBody>
          <a:bodyPr>
            <a:normAutofit/>
          </a:bodyPr>
          <a:lstStyle/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2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)</a:t>
            </a:r>
            <a:endParaRPr lang="en-US" sz="2800"/>
          </a:p>
          <a:p>
            <a:r>
              <a:rPr lang="en-US" sz="2800"/>
              <a:t>Tạo dữ liệu dạng số nguyên tăng dần bắt đầu từ 1</a:t>
            </a:r>
          </a:p>
        </p:txBody>
      </p:sp>
    </p:spTree>
    <p:extLst>
      <p:ext uri="{BB962C8B-B14F-4D97-AF65-F5344CB8AC3E}">
        <p14:creationId xmlns:p14="http://schemas.microsoft.com/office/powerpoint/2010/main" val="5097431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B2749-0376-237D-6CDC-9ACE161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3E53E-83BD-5939-A131-2FAB1AC6A4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106852"/>
            <a:ext cx="5088916" cy="3902061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19E763-BF7F-18C9-06EB-9279098ADF09}"/>
              </a:ext>
            </a:extLst>
          </p:cNvPr>
          <p:cNvSpPr/>
          <p:nvPr/>
        </p:nvSpPr>
        <p:spPr>
          <a:xfrm>
            <a:off x="1296955" y="3890864"/>
            <a:ext cx="4799045" cy="23192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C029C-D853-24CF-912E-074232E03200}"/>
              </a:ext>
            </a:extLst>
          </p:cNvPr>
          <p:cNvSpPr txBox="1"/>
          <p:nvPr/>
        </p:nvSpPr>
        <p:spPr>
          <a:xfrm>
            <a:off x="6316824" y="2106852"/>
            <a:ext cx="4838856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 orderService = context.getBean(OrderService.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order1 = orderService.save(order1)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28669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DE527-5B42-1CFB-EBAC-5A0E76466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IDENTITY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7300AA-7F68-3EB9-1445-CA23DD9A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707" y="3892154"/>
            <a:ext cx="3000848" cy="1993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49699-4213-7D99-DFAC-5F23FD7F2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294" y="1995405"/>
            <a:ext cx="4292941" cy="16387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03B1F7-9757-B05A-57B9-0416A7B9B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888785"/>
            <a:ext cx="4796363" cy="11863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42DC16C-7345-1F55-E90F-C44DE6DB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5065" y="1995405"/>
            <a:ext cx="5310615" cy="16387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090CA0-CE29-E5C2-9676-7E007AA35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9294" y="3772583"/>
            <a:ext cx="5608101" cy="97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50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0A8D-EA09-676B-B7DB-BD8546204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Delete Item IDENTITY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121DA5C-A6E1-F211-6961-BAABEECDEB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294546"/>
              </p:ext>
            </p:extLst>
          </p:nvPr>
        </p:nvGraphicFramePr>
        <p:xfrm>
          <a:off x="1097280" y="2277878"/>
          <a:ext cx="597366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416">
                  <a:extLst>
                    <a:ext uri="{9D8B030D-6E8A-4147-A177-3AD203B41FA5}">
                      <a16:colId xmlns:a16="http://schemas.microsoft.com/office/drawing/2014/main" val="451851044"/>
                    </a:ext>
                  </a:extLst>
                </a:gridCol>
                <a:gridCol w="1493416">
                  <a:extLst>
                    <a:ext uri="{9D8B030D-6E8A-4147-A177-3AD203B41FA5}">
                      <a16:colId xmlns:a16="http://schemas.microsoft.com/office/drawing/2014/main" val="421743138"/>
                    </a:ext>
                  </a:extLst>
                </a:gridCol>
                <a:gridCol w="1493416">
                  <a:extLst>
                    <a:ext uri="{9D8B030D-6E8A-4147-A177-3AD203B41FA5}">
                      <a16:colId xmlns:a16="http://schemas.microsoft.com/office/drawing/2014/main" val="4065748337"/>
                    </a:ext>
                  </a:extLst>
                </a:gridCol>
                <a:gridCol w="1493416">
                  <a:extLst>
                    <a:ext uri="{9D8B030D-6E8A-4147-A177-3AD203B41FA5}">
                      <a16:colId xmlns:a16="http://schemas.microsoft.com/office/drawing/2014/main" val="41951578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30925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64A4AA-3F39-2BB9-2C1B-DB527DBEE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603646"/>
              </p:ext>
            </p:extLst>
          </p:nvPr>
        </p:nvGraphicFramePr>
        <p:xfrm>
          <a:off x="1097280" y="3243580"/>
          <a:ext cx="448024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416">
                  <a:extLst>
                    <a:ext uri="{9D8B030D-6E8A-4147-A177-3AD203B41FA5}">
                      <a16:colId xmlns:a16="http://schemas.microsoft.com/office/drawing/2014/main" val="451851044"/>
                    </a:ext>
                  </a:extLst>
                </a:gridCol>
                <a:gridCol w="1493416">
                  <a:extLst>
                    <a:ext uri="{9D8B030D-6E8A-4147-A177-3AD203B41FA5}">
                      <a16:colId xmlns:a16="http://schemas.microsoft.com/office/drawing/2014/main" val="421743138"/>
                    </a:ext>
                  </a:extLst>
                </a:gridCol>
                <a:gridCol w="1493416">
                  <a:extLst>
                    <a:ext uri="{9D8B030D-6E8A-4147-A177-3AD203B41FA5}">
                      <a16:colId xmlns:a16="http://schemas.microsoft.com/office/drawing/2014/main" val="4065748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3092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C0C9FAE-6D74-87A2-920D-EC1EAF617A4B}"/>
              </a:ext>
            </a:extLst>
          </p:cNvPr>
          <p:cNvSpPr txBox="1"/>
          <p:nvPr/>
        </p:nvSpPr>
        <p:spPr>
          <a:xfrm>
            <a:off x="985313" y="2874248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Delete Item 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8A2207-0F5B-E2B3-5C9C-63F171D4D2BA}"/>
              </a:ext>
            </a:extLst>
          </p:cNvPr>
          <p:cNvSpPr txBox="1"/>
          <p:nvPr/>
        </p:nvSpPr>
        <p:spPr>
          <a:xfrm>
            <a:off x="985313" y="3858192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Insert New Item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F5CB9A0-0C61-E76F-C712-3E9B8EBF3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354327"/>
              </p:ext>
            </p:extLst>
          </p:nvPr>
        </p:nvGraphicFramePr>
        <p:xfrm>
          <a:off x="1097279" y="4285876"/>
          <a:ext cx="744023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046">
                  <a:extLst>
                    <a:ext uri="{9D8B030D-6E8A-4147-A177-3AD203B41FA5}">
                      <a16:colId xmlns:a16="http://schemas.microsoft.com/office/drawing/2014/main" val="451851044"/>
                    </a:ext>
                  </a:extLst>
                </a:gridCol>
                <a:gridCol w="1488046">
                  <a:extLst>
                    <a:ext uri="{9D8B030D-6E8A-4147-A177-3AD203B41FA5}">
                      <a16:colId xmlns:a16="http://schemas.microsoft.com/office/drawing/2014/main" val="421743138"/>
                    </a:ext>
                  </a:extLst>
                </a:gridCol>
                <a:gridCol w="1488046">
                  <a:extLst>
                    <a:ext uri="{9D8B030D-6E8A-4147-A177-3AD203B41FA5}">
                      <a16:colId xmlns:a16="http://schemas.microsoft.com/office/drawing/2014/main" val="4065748337"/>
                    </a:ext>
                  </a:extLst>
                </a:gridCol>
                <a:gridCol w="1488046">
                  <a:extLst>
                    <a:ext uri="{9D8B030D-6E8A-4147-A177-3AD203B41FA5}">
                      <a16:colId xmlns:a16="http://schemas.microsoft.com/office/drawing/2014/main" val="1783869505"/>
                    </a:ext>
                  </a:extLst>
                </a:gridCol>
                <a:gridCol w="1488046">
                  <a:extLst>
                    <a:ext uri="{9D8B030D-6E8A-4147-A177-3AD203B41FA5}">
                      <a16:colId xmlns:a16="http://schemas.microsoft.com/office/drawing/2014/main" val="25986395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3092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813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5A71-9907-00D5-FAE8-59643507B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UUID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C29191D-6DDC-164F-D25D-B61184532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144" y="1929651"/>
            <a:ext cx="4838856" cy="3706039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UUID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4E5534-AF63-7ECB-8574-A8AEED822E4E}"/>
              </a:ext>
            </a:extLst>
          </p:cNvPr>
          <p:cNvSpPr txBox="1"/>
          <p:nvPr/>
        </p:nvSpPr>
        <p:spPr>
          <a:xfrm>
            <a:off x="6316824" y="1929651"/>
            <a:ext cx="4838856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 orderService = context.getBean(OrderService.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order1 = orderService.save(order1)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FD48A3-FC13-A531-1A5D-AD0F4A000BD5}"/>
              </a:ext>
            </a:extLst>
          </p:cNvPr>
          <p:cNvSpPr/>
          <p:nvPr/>
        </p:nvSpPr>
        <p:spPr>
          <a:xfrm>
            <a:off x="1418253" y="3685592"/>
            <a:ext cx="4497355" cy="29857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79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0E93A-9AAF-C933-8348-8BD77F9D3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UUID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C675B5-F748-5FFB-D935-68554880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551" y="1969490"/>
            <a:ext cx="6454699" cy="12574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3507A2-B400-B1AB-3E72-98E3B4562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156" y="3839547"/>
            <a:ext cx="5312298" cy="9563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A956AA-BFAE-B90D-9F80-24DDECE37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156" y="1969490"/>
            <a:ext cx="3856501" cy="15294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5A57ED-3851-0E3A-6215-CC788F247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156" y="4979118"/>
            <a:ext cx="5810402" cy="85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20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3DB99-52CD-A1F2-605B-CAD21EA0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Auto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3AFEA-6419-E6F4-C58C-72F4A620C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" y="2300795"/>
            <a:ext cx="5135569" cy="906797"/>
          </a:xfr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800">
              <a:solidFill>
                <a:srgbClr val="A9B7C6"/>
              </a:solidFill>
              <a:effectLst/>
              <a:latin typeface="JetBrains Mono"/>
            </a:endParaRPr>
          </a:p>
          <a:p>
            <a:pPr marL="0" indent="0">
              <a:buNone/>
            </a:pP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09CA59-31B8-61BB-F985-2E53147424EC}"/>
              </a:ext>
            </a:extLst>
          </p:cNvPr>
          <p:cNvSpPr txBox="1">
            <a:spLocks/>
          </p:cNvSpPr>
          <p:nvPr/>
        </p:nvSpPr>
        <p:spPr>
          <a:xfrm>
            <a:off x="725536" y="3700390"/>
            <a:ext cx="5135569" cy="90679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>
                <a:solidFill>
                  <a:srgbClr val="BBB529"/>
                </a:solidFill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latin typeface="JetBrains Mono"/>
              </a:rPr>
              <a:t>@GeneratedValue</a:t>
            </a:r>
            <a:r>
              <a:rPr lang="en-US" sz="1800">
                <a:solidFill>
                  <a:srgbClr val="A9B7C6"/>
                </a:solidFill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latin typeface="JetBrains Mono"/>
              </a:rPr>
              <a:t>AUTO</a:t>
            </a:r>
            <a:r>
              <a:rPr lang="en-US" sz="1800">
                <a:solidFill>
                  <a:srgbClr val="A9B7C6"/>
                </a:solidFill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latin typeface="JetBrains Mono"/>
              </a:rPr>
              <a:t>private UUID </a:t>
            </a:r>
            <a:r>
              <a:rPr lang="en-US" sz="1800">
                <a:solidFill>
                  <a:srgbClr val="9876AA"/>
                </a:solidFill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latin typeface="JetBrains Mono"/>
              </a:rPr>
              <a:t>;</a:t>
            </a:r>
            <a:endParaRPr lang="en-US" sz="1800">
              <a:solidFill>
                <a:srgbClr val="A9B7C6"/>
              </a:solidFill>
              <a:latin typeface="JetBrains Mono"/>
            </a:endParaRPr>
          </a:p>
          <a:p>
            <a:pPr marL="0" indent="0">
              <a:buFont typeface="Calibri" panose="020F0502020204030204" pitchFamily="34" charset="0"/>
              <a:buNone/>
            </a:pP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48425F-17EB-994B-45D0-C2F2C29B2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36" y="4818757"/>
            <a:ext cx="9349749" cy="7314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322D8-F853-4306-95EB-FAD43D1E5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88489"/>
            <a:ext cx="5846813" cy="90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838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8B98F-6C57-898B-DA6F-99BB1530B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</a:t>
            </a:r>
            <a:r>
              <a:rPr lang="en-US" sz="4800"/>
              <a:t>SEQUENCE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F4FAE-57A3-A2DC-B55C-1DDF5A597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521" y="1827073"/>
            <a:ext cx="9567610" cy="4023360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92500" lnSpcReduction="10000"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@GenericGenerator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"sequence-generator"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strategy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"org.hibernate.id.enhanced.SequenceStyleGenerator"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parameters =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    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@org.hibernate.annotations.Parameter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"sequence_name"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value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"order_sequence"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    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@org.hibernate.annotations.Parameter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"initial_value"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value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"5"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    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@org.hibernate.annotations.Parameter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"increment_size"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value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"1"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}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SEQUENCE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generator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"sequence-generator"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800">
              <a:solidFill>
                <a:srgbClr val="A9B7C6"/>
              </a:solidFill>
              <a:effectLst/>
              <a:latin typeface="JetBrains Mono"/>
            </a:endParaRPr>
          </a:p>
          <a:p>
            <a:r>
              <a:rPr lang="en-US" sz="2000">
                <a:solidFill>
                  <a:srgbClr val="A9B7C6"/>
                </a:solidFill>
                <a:effectLst/>
                <a:latin typeface="JetBrains Mono"/>
              </a:rPr>
              <a:t>}</a:t>
            </a:r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51B7AF-CD09-EC56-0FFB-D325379BDAC6}"/>
              </a:ext>
            </a:extLst>
          </p:cNvPr>
          <p:cNvCxnSpPr/>
          <p:nvPr/>
        </p:nvCxnSpPr>
        <p:spPr>
          <a:xfrm>
            <a:off x="4879910" y="3181739"/>
            <a:ext cx="3321698" cy="153955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EBC67F89-B1EB-A8E1-844D-A348BD878605}"/>
              </a:ext>
            </a:extLst>
          </p:cNvPr>
          <p:cNvSpPr/>
          <p:nvPr/>
        </p:nvSpPr>
        <p:spPr>
          <a:xfrm>
            <a:off x="9088016" y="3582955"/>
            <a:ext cx="1689463" cy="43853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154D7A-8A52-885D-489D-89D92E934295}"/>
              </a:ext>
            </a:extLst>
          </p:cNvPr>
          <p:cNvSpPr/>
          <p:nvPr/>
        </p:nvSpPr>
        <p:spPr>
          <a:xfrm>
            <a:off x="2771191" y="3047343"/>
            <a:ext cx="1996751" cy="26879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13964-1012-3F26-15EE-F3152F3B4965}"/>
              </a:ext>
            </a:extLst>
          </p:cNvPr>
          <p:cNvSpPr/>
          <p:nvPr/>
        </p:nvSpPr>
        <p:spPr>
          <a:xfrm>
            <a:off x="7819053" y="4721290"/>
            <a:ext cx="2015412" cy="31724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15B470-317B-2635-517E-E9B04B9E5720}"/>
              </a:ext>
            </a:extLst>
          </p:cNvPr>
          <p:cNvSpPr/>
          <p:nvPr/>
        </p:nvSpPr>
        <p:spPr>
          <a:xfrm>
            <a:off x="2967135" y="3316134"/>
            <a:ext cx="4851918" cy="22573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858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7F20D-80D0-512A-D9E0-C5D06C67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</a:t>
            </a:r>
            <a:r>
              <a:rPr lang="en-US" sz="4800"/>
              <a:t>SEQUENCE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D4BEFD-4B5A-A562-D983-3287DB224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423" y="1978973"/>
            <a:ext cx="6563153" cy="20402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262DEC-619B-9240-A6AC-65F603E70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665" y="4260851"/>
            <a:ext cx="3888670" cy="235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8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3ABAD-B67B-1C39-452E-F935E60F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</a:t>
            </a:r>
            <a:r>
              <a:rPr lang="en-US" sz="4800"/>
              <a:t>SEQUENCE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72EB4B-4A74-AE70-B031-8D9BCBA0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379" y="1878104"/>
            <a:ext cx="5869585" cy="46932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16AB75-9CB8-A432-CC96-CEC4AE845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36" y="2799568"/>
            <a:ext cx="2492327" cy="247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61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9B57E-AE57-1DEC-A6A3-28CBC2D92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</a:t>
            </a:r>
            <a:r>
              <a:rPr lang="en-US" sz="4800"/>
              <a:t>SEQUENCE</a:t>
            </a: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EBBF7E-E5B6-71B0-4BD8-3B64677F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558682"/>
            <a:ext cx="3854702" cy="27952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CDA2F3-F61C-1937-4138-8AE933F1C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621" y="3429000"/>
            <a:ext cx="5308090" cy="2647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E07DEE-6C8C-341E-CA62-165CB61B0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02978"/>
            <a:ext cx="4030351" cy="136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803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9CB4E-8159-A67C-8D26-AC94CDC9A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Custom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1442D-17AD-59C8-EE9B-D1C80404816A}"/>
              </a:ext>
            </a:extLst>
          </p:cNvPr>
          <p:cNvSpPr txBox="1"/>
          <p:nvPr/>
        </p:nvSpPr>
        <p:spPr>
          <a:xfrm>
            <a:off x="444448" y="1879518"/>
            <a:ext cx="5545806" cy="45243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808080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(generator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"order-id-generator"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@GenericGenerator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"order-id-generator"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strategy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"org.example.models.OrderIdGenerator"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1C3D13-DCD1-E7E0-4BDC-697F110B7B08}"/>
              </a:ext>
            </a:extLst>
          </p:cNvPr>
          <p:cNvSpPr/>
          <p:nvPr/>
        </p:nvSpPr>
        <p:spPr>
          <a:xfrm>
            <a:off x="444448" y="3861832"/>
            <a:ext cx="5433838" cy="77548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38E12C-96EB-F9F3-E923-A87DC7BD76F3}"/>
              </a:ext>
            </a:extLst>
          </p:cNvPr>
          <p:cNvSpPr txBox="1"/>
          <p:nvPr/>
        </p:nvSpPr>
        <p:spPr>
          <a:xfrm>
            <a:off x="6096000" y="2490481"/>
            <a:ext cx="5059680" cy="329320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OrderIdGenerator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IdentifierGenerator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@Override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Serializable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generate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(SharedSessionContractImplementor session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Object object)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long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timestamp = System.</a:t>
            </a:r>
            <a:r>
              <a:rPr lang="en-US" sz="1600" i="1">
                <a:solidFill>
                  <a:srgbClr val="A9B7C6"/>
                </a:solidFill>
                <a:effectLst/>
                <a:latin typeface="JetBrains Mono"/>
              </a:rPr>
              <a:t>currentTimeMillis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    return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"ORDER-"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+ timestamp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endParaRPr lang="en-US" sz="16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D9D4E2-0B25-F4FD-FDFE-AA65FF47A45D}"/>
              </a:ext>
            </a:extLst>
          </p:cNvPr>
          <p:cNvSpPr/>
          <p:nvPr/>
        </p:nvSpPr>
        <p:spPr>
          <a:xfrm>
            <a:off x="6096000" y="2771192"/>
            <a:ext cx="1779037" cy="32657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A7D003-0D0B-52E6-30CF-9CFB1B6E0627}"/>
              </a:ext>
            </a:extLst>
          </p:cNvPr>
          <p:cNvSpPr/>
          <p:nvPr/>
        </p:nvSpPr>
        <p:spPr>
          <a:xfrm>
            <a:off x="6096000" y="3256384"/>
            <a:ext cx="4662196" cy="989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833012-3117-0672-D9DB-50D5A2E2D432}"/>
              </a:ext>
            </a:extLst>
          </p:cNvPr>
          <p:cNvSpPr/>
          <p:nvPr/>
        </p:nvSpPr>
        <p:spPr>
          <a:xfrm>
            <a:off x="6876661" y="3429000"/>
            <a:ext cx="1063690" cy="34989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3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5E7F5-4141-68E2-6A29-BA7CFDE75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 Custom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83074-60CF-12C2-DE23-CBF82DD1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874" y="2042657"/>
            <a:ext cx="3274130" cy="13863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970B83-BC01-394D-2B22-7192470C9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216" y="2042657"/>
            <a:ext cx="6368464" cy="11484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91A97E-EB9D-C821-A1CE-85B6A24E1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873" y="3734296"/>
            <a:ext cx="5827937" cy="13863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810FB6-6E1F-C64B-6037-EC8FE5D22B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88" y="3965006"/>
            <a:ext cx="4772594" cy="924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695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34033-2C4C-2759-BA2D-879869B7B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1A490-08F0-5B8F-DCA0-FF561E529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358918"/>
            <a:ext cx="10058400" cy="505580"/>
          </a:xfrm>
        </p:spPr>
        <p:txBody>
          <a:bodyPr>
            <a:normAutofit/>
          </a:bodyPr>
          <a:lstStyle/>
          <a:p>
            <a:r>
              <a:rPr lang="en-US" sz="2800"/>
              <a:t>Làm thế nào để lấy ra một record với field generate?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B883CC-310F-740D-10F9-BF7D1A44BA64}"/>
              </a:ext>
            </a:extLst>
          </p:cNvPr>
          <p:cNvSpPr txBox="1"/>
          <p:nvPr/>
        </p:nvSpPr>
        <p:spPr>
          <a:xfrm>
            <a:off x="1287624" y="3987656"/>
            <a:ext cx="5243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findById(&lt;id&gt;)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353D7A-0B9C-B603-77D7-3503D9882047}"/>
              </a:ext>
            </a:extLst>
          </p:cNvPr>
          <p:cNvSpPr txBox="1"/>
          <p:nvPr/>
        </p:nvSpPr>
        <p:spPr>
          <a:xfrm>
            <a:off x="1287624" y="4521537"/>
            <a:ext cx="5243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findAll()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868DEB-CDE9-DB53-BBBD-0D189CF3C02B}"/>
              </a:ext>
            </a:extLst>
          </p:cNvPr>
          <p:cNvSpPr txBox="1"/>
          <p:nvPr/>
        </p:nvSpPr>
        <p:spPr>
          <a:xfrm>
            <a:off x="1097280" y="2976948"/>
            <a:ext cx="1005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Có một Product có id được tạo tự động. Sau khi create một product làm thế nào để query lấy ra product đó hiển thị lên giao diện</a:t>
            </a:r>
          </a:p>
        </p:txBody>
      </p:sp>
    </p:spTree>
    <p:extLst>
      <p:ext uri="{BB962C8B-B14F-4D97-AF65-F5344CB8AC3E}">
        <p14:creationId xmlns:p14="http://schemas.microsoft.com/office/powerpoint/2010/main" val="3620515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3A5A4-6115-A8F0-C55E-DAF7E2D0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Primary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AF3C4-ED9B-990C-E057-D461B46A1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082" y="2267339"/>
            <a:ext cx="8136294" cy="1161662"/>
          </a:xfrm>
        </p:spPr>
        <p:txBody>
          <a:bodyPr>
            <a:normAutofit/>
          </a:bodyPr>
          <a:lstStyle/>
          <a:p>
            <a:pPr marL="0" indent="0" hangingPunct="1">
              <a:buNone/>
            </a:pPr>
            <a:r>
              <a:rPr lang="en-US" sz="2800"/>
              <a:t>Single primary key</a:t>
            </a:r>
          </a:p>
          <a:p>
            <a:pPr marL="0" indent="0" hangingPunct="1">
              <a:buNone/>
            </a:pPr>
            <a:r>
              <a:rPr lang="en-US" sz="2800"/>
              <a:t>Multiple primary key</a:t>
            </a:r>
          </a:p>
          <a:p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01604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A1651-9873-29D6-D050-0965AF9A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Primary Key – Single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9190F-B48E-49B4-AFF8-F1BC7491AEBC}"/>
              </a:ext>
            </a:extLst>
          </p:cNvPr>
          <p:cNvSpPr txBox="1"/>
          <p:nvPr/>
        </p:nvSpPr>
        <p:spPr>
          <a:xfrm>
            <a:off x="3121090" y="2047082"/>
            <a:ext cx="5707224" cy="45243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14755-A868-2D8C-2D1C-903D13F40DD5}"/>
              </a:ext>
            </a:extLst>
          </p:cNvPr>
          <p:cNvSpPr/>
          <p:nvPr/>
        </p:nvSpPr>
        <p:spPr>
          <a:xfrm>
            <a:off x="1229481" y="1737360"/>
            <a:ext cx="95571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@Id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F1258B-014C-AA89-C634-705671C24953}"/>
              </a:ext>
            </a:extLst>
          </p:cNvPr>
          <p:cNvSpPr/>
          <p:nvPr/>
        </p:nvSpPr>
        <p:spPr>
          <a:xfrm>
            <a:off x="3303037" y="3937518"/>
            <a:ext cx="653143" cy="35306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239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7867-9EB6-7552-B50A-33B38400F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Primary Key – Single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51FFAD-7234-5CA5-92F7-79C4D2421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138" y="2419231"/>
            <a:ext cx="4001724" cy="16463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994499-77B4-F745-6A25-78EA8F8D6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354" y="4747457"/>
            <a:ext cx="7404251" cy="129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48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B68-02A3-76E5-C68A-FDFE0318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Primary Key - Multiple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5F2EF-E32D-11D6-EFC7-634E02354187}"/>
              </a:ext>
            </a:extLst>
          </p:cNvPr>
          <p:cNvSpPr txBox="1"/>
          <p:nvPr/>
        </p:nvSpPr>
        <p:spPr>
          <a:xfrm>
            <a:off x="1218889" y="1841242"/>
            <a:ext cx="4930567" cy="501675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id2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EFDB4F-EE9F-C5A2-1D0E-5A3F93AC1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50" y="4491622"/>
            <a:ext cx="4828143" cy="12580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2CE36A1-DC8C-4323-D0F7-C6CD4E6B6DE3}"/>
              </a:ext>
            </a:extLst>
          </p:cNvPr>
          <p:cNvSpPr/>
          <p:nvPr/>
        </p:nvSpPr>
        <p:spPr>
          <a:xfrm>
            <a:off x="1427584" y="3517641"/>
            <a:ext cx="550506" cy="37322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8E7655-F1C4-54B9-24DF-CB5B60D63FB2}"/>
              </a:ext>
            </a:extLst>
          </p:cNvPr>
          <p:cNvSpPr/>
          <p:nvPr/>
        </p:nvSpPr>
        <p:spPr>
          <a:xfrm>
            <a:off x="1427584" y="4481804"/>
            <a:ext cx="550506" cy="37322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8326B7-057D-3CC9-27AD-EEC721202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03" y="2062065"/>
            <a:ext cx="3652444" cy="196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34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58A61-6070-830B-5C48-3777FF94C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DE8D2-8A2A-5E38-808C-BF9AEC671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8496" y="2146039"/>
            <a:ext cx="10058400" cy="3835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>
                <a:solidFill>
                  <a:srgbClr val="FF0000"/>
                </a:solidFill>
              </a:rPr>
              <a:t>VẤN ĐỀ: findById như thế nào?</a:t>
            </a:r>
          </a:p>
        </p:txBody>
      </p:sp>
    </p:spTree>
    <p:extLst>
      <p:ext uri="{BB962C8B-B14F-4D97-AF65-F5344CB8AC3E}">
        <p14:creationId xmlns:p14="http://schemas.microsoft.com/office/powerpoint/2010/main" val="2742355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06B84-3CF4-ADFB-3241-0ABE230BB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7118C-355A-4F1E-8824-EA2489AB9BC8}"/>
              </a:ext>
            </a:extLst>
          </p:cNvPr>
          <p:cNvSpPr txBox="1"/>
          <p:nvPr/>
        </p:nvSpPr>
        <p:spPr>
          <a:xfrm>
            <a:off x="1381469" y="2337886"/>
            <a:ext cx="94290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findById2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long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id1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 id2)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EntityManager em =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databaseUtils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.getEntityManager()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try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TypedQuery&lt;Order&gt; query = </a:t>
            </a:r>
          </a:p>
          <a:p>
            <a:r>
              <a:rPr lang="en-US">
                <a:solidFill>
                  <a:srgbClr val="A9B7C6"/>
                </a:solidFill>
                <a:latin typeface="JetBrains Mono"/>
              </a:rPr>
              <a:t>		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em.createQuery(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"select o from Order o where o.id = :id1 and o.id2 = :id2"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query.setParameter(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"id1"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id1)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query.setParameter(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"id2"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id2)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return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query.getSingleResult()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catch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(Exception ex)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throw 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RuntimeException(ex)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0DDE7A-6614-74FE-A8E0-139FCE212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1858" y="4210624"/>
            <a:ext cx="6449547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3820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B174C-0F7A-9111-F164-53BC5176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78D4FE-A2A0-4119-FEE1-62D84B83BEC5}"/>
              </a:ext>
            </a:extLst>
          </p:cNvPr>
          <p:cNvSpPr txBox="1"/>
          <p:nvPr/>
        </p:nvSpPr>
        <p:spPr>
          <a:xfrm>
            <a:off x="2718870" y="3375983"/>
            <a:ext cx="75846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&lt;</a:t>
            </a:r>
            <a:r>
              <a:rPr lang="en-US" sz="2400">
                <a:solidFill>
                  <a:srgbClr val="507874"/>
                </a:solidFill>
                <a:effectLst/>
                <a:latin typeface="JetBrains Mono"/>
              </a:rPr>
              <a:t>T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&gt; </a:t>
            </a:r>
            <a:r>
              <a:rPr lang="en-US" sz="2400">
                <a:solidFill>
                  <a:srgbClr val="507874"/>
                </a:solidFill>
                <a:effectLst/>
                <a:latin typeface="JetBrains Mono"/>
              </a:rPr>
              <a:t>T </a:t>
            </a:r>
            <a:r>
              <a:rPr lang="en-US" sz="2400">
                <a:solidFill>
                  <a:srgbClr val="FFC66D"/>
                </a:solidFill>
                <a:effectLst/>
                <a:latin typeface="JetBrains Mono"/>
              </a:rPr>
              <a:t>find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(Class&lt;</a:t>
            </a:r>
            <a:r>
              <a:rPr lang="en-US" sz="2400">
                <a:solidFill>
                  <a:srgbClr val="507874"/>
                </a:solidFill>
                <a:effectLst/>
                <a:latin typeface="JetBrains Mono"/>
              </a:rPr>
              <a:t>T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&gt; entityClass</a:t>
            </a: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Object primaryKey)</a:t>
            </a: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24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66B786-B611-FC57-A05D-26CFAC88D3A2}"/>
              </a:ext>
            </a:extLst>
          </p:cNvPr>
          <p:cNvSpPr txBox="1"/>
          <p:nvPr/>
        </p:nvSpPr>
        <p:spPr>
          <a:xfrm>
            <a:off x="2718870" y="2826325"/>
            <a:ext cx="7179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jakarta.persistence. EntityManager</a:t>
            </a: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2400">
              <a:solidFill>
                <a:srgbClr val="A9B7C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0907182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AAB1-4CAF-35B4-75B7-B6E860E3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A8774-77C9-6D17-6DE4-A1321E0406BD}"/>
              </a:ext>
            </a:extLst>
          </p:cNvPr>
          <p:cNvSpPr txBox="1"/>
          <p:nvPr/>
        </p:nvSpPr>
        <p:spPr>
          <a:xfrm>
            <a:off x="1630525" y="1910056"/>
            <a:ext cx="609755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>
                <a:solidFill>
                  <a:srgbClr val="BBB529"/>
                </a:solidFill>
                <a:effectLst/>
                <a:latin typeface="JetBrains Mono"/>
              </a:rPr>
              <a:t>@EmbeddedId</a:t>
            </a:r>
          </a:p>
          <a:p>
            <a:pPr>
              <a:lnSpc>
                <a:spcPct val="150000"/>
              </a:lnSpc>
            </a:pPr>
            <a:r>
              <a:rPr lang="en-US" sz="2800">
                <a:solidFill>
                  <a:srgbClr val="BBB529"/>
                </a:solidFill>
                <a:effectLst/>
                <a:latin typeface="JetBrains Mono"/>
              </a:rPr>
              <a:t>@IdClass</a:t>
            </a:r>
            <a:r>
              <a:rPr lang="en-US" sz="2800">
                <a:solidFill>
                  <a:srgbClr val="A9B7C6"/>
                </a:solidFill>
                <a:effectLst/>
                <a:latin typeface="JetBrains Mono"/>
              </a:rPr>
              <a:t>(IdClass.</a:t>
            </a:r>
            <a:r>
              <a:rPr lang="en-US" sz="2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2800">
                <a:solidFill>
                  <a:srgbClr val="A9B7C6"/>
                </a:solidFill>
                <a:effectLst/>
                <a:latin typeface="JetBrains Mono"/>
              </a:rPr>
              <a:t>)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9008237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BA62F-BCE6-C989-34E3-84E302CF2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AB6DB-7ACB-5B6E-556E-F55B911B0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184" y="2326894"/>
            <a:ext cx="5029200" cy="3946988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"order_details"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@EmbeddedId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FAD921-392E-09B3-A764-DD1C57676389}"/>
              </a:ext>
            </a:extLst>
          </p:cNvPr>
          <p:cNvSpPr txBox="1"/>
          <p:nvPr/>
        </p:nvSpPr>
        <p:spPr>
          <a:xfrm>
            <a:off x="513184" y="1832072"/>
            <a:ext cx="4823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Cách 1: Sử dụng Embedable và EmbeddedId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AD129-06AD-13E0-39E7-A6D430787164}"/>
              </a:ext>
            </a:extLst>
          </p:cNvPr>
          <p:cNvSpPr txBox="1"/>
          <p:nvPr/>
        </p:nvSpPr>
        <p:spPr>
          <a:xfrm>
            <a:off x="5980922" y="1931516"/>
            <a:ext cx="5374433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@Embeddable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Serializable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productId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395741-1B46-CC66-8158-4234CC98C0E5}"/>
              </a:ext>
            </a:extLst>
          </p:cNvPr>
          <p:cNvSpPr/>
          <p:nvPr/>
        </p:nvSpPr>
        <p:spPr>
          <a:xfrm>
            <a:off x="699796" y="4014932"/>
            <a:ext cx="1735494" cy="31724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328C84-4BB2-7B6C-7F8C-F4C4591D7A4F}"/>
              </a:ext>
            </a:extLst>
          </p:cNvPr>
          <p:cNvSpPr/>
          <p:nvPr/>
        </p:nvSpPr>
        <p:spPr>
          <a:xfrm>
            <a:off x="5980922" y="1931516"/>
            <a:ext cx="2248678" cy="1181417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879A77-E537-6BDA-7A16-381398CDF62C}"/>
              </a:ext>
            </a:extLst>
          </p:cNvPr>
          <p:cNvSpPr/>
          <p:nvPr/>
        </p:nvSpPr>
        <p:spPr>
          <a:xfrm>
            <a:off x="9601200" y="3069771"/>
            <a:ext cx="1231641" cy="35922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2339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E398-0818-5C7F-DB5E-C5F928E7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86DB0-DEA1-3339-3647-CBDABFA53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9592" y="1957254"/>
            <a:ext cx="6732815" cy="4614143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OrderDetailService orderDetailService = context.getBean(OrderDetailService.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orderDetail1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OrderDetailId(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orderDetail2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OrderDetailId(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orderDetail1 = orderDetailService.save(orderDetail1)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orderDetail2 = orderDetailService.save(orderDetail2)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.println(orderDetail1)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.println(orderDetail2)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findResult = orderDetailService.findById(orderDetail1.getId())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"Find Result:"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.println(findResult)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750941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2BDC8-833E-2CF3-A1F0-38CF8EA89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38D51-0E1C-53D4-5F06-BB0CB31A7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" y="1945784"/>
            <a:ext cx="3322059" cy="17724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6F0E1B-9F3F-BA53-B41A-8C4041440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584" y="1945784"/>
            <a:ext cx="7398907" cy="7563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CED024-1BD2-FA5E-0828-E8FFF8576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276" y="4062122"/>
            <a:ext cx="4906513" cy="13457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BE4D5A1-73DA-C686-F2A3-A3954E170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5737" y="4155884"/>
            <a:ext cx="5818038" cy="106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5494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EC025-4AE1-AD0F-74D1-DD5E9C2AF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D2B41-6CA7-1BB3-6F6B-4DA89375E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9592" y="1957254"/>
            <a:ext cx="6732815" cy="4614143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OrderDetailService orderDetailService = context.getBean(OrderDetailService.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orderDetail1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OrderDetailId(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orderDetail2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OrderDetailId(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orderDetail1 = orderDetailService.save(orderDetail1)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orderDetail2 = orderDetailService.save(orderDetail2)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.println(orderDetail1)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.println(orderDetail2)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findResult = orderDetailService.findById(orderDetail1.getId())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"Find Result:"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.println(findResult)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DD7777-B17C-FBCD-EC63-C19111A8DA35}"/>
              </a:ext>
            </a:extLst>
          </p:cNvPr>
          <p:cNvSpPr/>
          <p:nvPr/>
        </p:nvSpPr>
        <p:spPr>
          <a:xfrm>
            <a:off x="2827175" y="5515854"/>
            <a:ext cx="5253135" cy="662996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3409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29983-56E9-6C70-B612-48A617375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85DEF6-0CF4-5C88-3CB5-97ADE33146DB}"/>
              </a:ext>
            </a:extLst>
          </p:cNvPr>
          <p:cNvSpPr txBox="1"/>
          <p:nvPr/>
        </p:nvSpPr>
        <p:spPr>
          <a:xfrm>
            <a:off x="809431" y="1997839"/>
            <a:ext cx="6097554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800">
                <a:solidFill>
                  <a:srgbClr val="507874"/>
                </a:solidFill>
                <a:effectLst/>
                <a:latin typeface="JetBrains Mono"/>
              </a:rPr>
              <a:t>T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findById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rgbClr val="507874"/>
                </a:solidFill>
                <a:effectLst/>
                <a:latin typeface="JetBrains Mono"/>
              </a:rPr>
              <a:t>D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d)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EntityManager em =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databaseUtils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.getEntityManager()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try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return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em.find(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tClass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d)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catch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(Exception ex)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throw 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RuntimeException(ex)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finally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em.close()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D9C5D3-CF47-AE37-8B37-D451D7BF7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129" y="3904207"/>
            <a:ext cx="6896698" cy="288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750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043A-2468-7A4A-C455-6E42435AF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BFA0AD-17DF-F252-1DF5-C73E54D12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086" y="2127451"/>
            <a:ext cx="9860594" cy="904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667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FADC9-4839-8219-F818-200032D47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CC7E5-99F6-1628-534A-30D2504FCEAD}"/>
              </a:ext>
            </a:extLst>
          </p:cNvPr>
          <p:cNvSpPr/>
          <p:nvPr/>
        </p:nvSpPr>
        <p:spPr>
          <a:xfrm>
            <a:off x="1097280" y="2020494"/>
            <a:ext cx="562416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>
                <a:ln w="0"/>
                <a:solidFill>
                  <a:srgbClr val="FF0000"/>
                </a:solidFill>
              </a:rPr>
              <a:t>Không thể sử dụng Generator trong Id Class</a:t>
            </a:r>
            <a:endParaRPr lang="en-US" sz="2400" b="0" cap="none" spc="0">
              <a:ln w="0"/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AA171-DCAE-AFEA-FA93-EB6F9A165FCC}"/>
              </a:ext>
            </a:extLst>
          </p:cNvPr>
          <p:cNvSpPr txBox="1"/>
          <p:nvPr/>
        </p:nvSpPr>
        <p:spPr>
          <a:xfrm>
            <a:off x="3314396" y="2571290"/>
            <a:ext cx="5624167" cy="424731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@Embeddable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Serializable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productId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F49A2C4-41D2-1C53-DDF0-2E86EFA12011}"/>
              </a:ext>
            </a:extLst>
          </p:cNvPr>
          <p:cNvCxnSpPr>
            <a:cxnSpLocks/>
          </p:cNvCxnSpPr>
          <p:nvPr/>
        </p:nvCxnSpPr>
        <p:spPr>
          <a:xfrm>
            <a:off x="3314396" y="2571290"/>
            <a:ext cx="5624167" cy="424731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915B41-E615-F827-FDEA-429B89742B0B}"/>
              </a:ext>
            </a:extLst>
          </p:cNvPr>
          <p:cNvCxnSpPr>
            <a:cxnSpLocks/>
          </p:cNvCxnSpPr>
          <p:nvPr/>
        </p:nvCxnSpPr>
        <p:spPr>
          <a:xfrm flipH="1">
            <a:off x="3314396" y="2571290"/>
            <a:ext cx="5624167" cy="424731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6258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7F66A-95BE-A9B4-0965-0CC3899E9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FE9B82-9D46-0DA7-56F7-A3AF0DBD3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0591" y="2037645"/>
            <a:ext cx="5029200" cy="3946988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2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2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2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2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2400">
                <a:solidFill>
                  <a:srgbClr val="6A8759"/>
                </a:solidFill>
                <a:effectLst/>
                <a:latin typeface="JetBrains Mono"/>
              </a:rPr>
              <a:t>"order_details"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2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OrderDetail {</a:t>
            </a:r>
            <a:br>
              <a:rPr lang="en-US" sz="2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2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@EmbeddedId</a:t>
            </a:r>
            <a:br>
              <a:rPr lang="en-US" sz="2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2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2400">
                <a:solidFill>
                  <a:srgbClr val="CC7832"/>
                </a:solidFill>
                <a:effectLst/>
                <a:latin typeface="JetBrains Mono"/>
              </a:rPr>
              <a:t>;</a:t>
            </a:r>
          </a:p>
          <a:p>
            <a:br>
              <a:rPr lang="en-US" sz="2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B322AF-09B1-C674-4FFF-C68E8974C975}"/>
              </a:ext>
            </a:extLst>
          </p:cNvPr>
          <p:cNvSpPr/>
          <p:nvPr/>
        </p:nvSpPr>
        <p:spPr>
          <a:xfrm>
            <a:off x="2024742" y="4320073"/>
            <a:ext cx="2052736" cy="45171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01B5D-9C52-CBAE-7194-8F53119BF873}"/>
              </a:ext>
            </a:extLst>
          </p:cNvPr>
          <p:cNvSpPr txBox="1"/>
          <p:nvPr/>
        </p:nvSpPr>
        <p:spPr>
          <a:xfrm>
            <a:off x="7417837" y="3140571"/>
            <a:ext cx="39188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IDENTITY		NUMBER</a:t>
            </a:r>
          </a:p>
          <a:p>
            <a:r>
              <a:rPr lang="en-US" sz="2000"/>
              <a:t>UUID			UUID</a:t>
            </a:r>
          </a:p>
          <a:p>
            <a:r>
              <a:rPr lang="en-US" sz="2000"/>
              <a:t>AUTO			NUMBER/UUID</a:t>
            </a:r>
          </a:p>
          <a:p>
            <a:r>
              <a:rPr lang="en-US" sz="2000"/>
              <a:t>SEQUENCE		NUMBER</a:t>
            </a:r>
          </a:p>
          <a:p>
            <a:r>
              <a:rPr lang="en-US" sz="2000"/>
              <a:t>CUSTOM		SERIALIZABLE</a:t>
            </a:r>
          </a:p>
        </p:txBody>
      </p:sp>
    </p:spTree>
    <p:extLst>
      <p:ext uri="{BB962C8B-B14F-4D97-AF65-F5344CB8AC3E}">
        <p14:creationId xmlns:p14="http://schemas.microsoft.com/office/powerpoint/2010/main" val="2811855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2843-3A59-646C-D6CE-8F52AFB25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B13CD1-F640-7BEB-2823-FE1885646937}"/>
              </a:ext>
            </a:extLst>
          </p:cNvPr>
          <p:cNvSpPr txBox="1"/>
          <p:nvPr/>
        </p:nvSpPr>
        <p:spPr>
          <a:xfrm>
            <a:off x="2143319" y="2668866"/>
            <a:ext cx="790536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OrderDetailIdGenerator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IdentifierGenerator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@Override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Serializable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generate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(SharedSessionContractImplementor session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Object object)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OrderDetailId orderDetailId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OrderDetailId(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return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F8461A-6F18-6144-A497-9C7BEADF72BA}"/>
              </a:ext>
            </a:extLst>
          </p:cNvPr>
          <p:cNvSpPr/>
          <p:nvPr/>
        </p:nvSpPr>
        <p:spPr>
          <a:xfrm>
            <a:off x="3022731" y="3516421"/>
            <a:ext cx="1166326" cy="34523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8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FD69A-293C-1CC7-5BA2-B723BC910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83371-9946-49AB-8E40-DAA07588AC26}"/>
              </a:ext>
            </a:extLst>
          </p:cNvPr>
          <p:cNvSpPr txBox="1"/>
          <p:nvPr/>
        </p:nvSpPr>
        <p:spPr>
          <a:xfrm>
            <a:off x="2275736" y="1917427"/>
            <a:ext cx="7701487" cy="424731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"order_details"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@EmbeddedId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(generator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"order-detail-id-generator"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@GenericGenerator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"order-detail-id-generator"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strategy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"org.example.models.OrderDetailIdGenerator"</a:t>
            </a:r>
            <a:br>
              <a:rPr lang="en-US" sz="1800">
                <a:solidFill>
                  <a:srgbClr val="6A875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8FA03D-81A2-F5E9-BE7F-99B9478EE1EE}"/>
              </a:ext>
            </a:extLst>
          </p:cNvPr>
          <p:cNvSpPr/>
          <p:nvPr/>
        </p:nvSpPr>
        <p:spPr>
          <a:xfrm>
            <a:off x="2444620" y="3872204"/>
            <a:ext cx="5999584" cy="160486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649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E9223-57CE-92F1-8817-0F3939F6A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515E23-A62E-D9E7-0D57-B3FDD4B454FB}"/>
              </a:ext>
            </a:extLst>
          </p:cNvPr>
          <p:cNvSpPr txBox="1"/>
          <p:nvPr/>
        </p:nvSpPr>
        <p:spPr>
          <a:xfrm>
            <a:off x="1180090" y="1877714"/>
            <a:ext cx="6974866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OrderDetailService orderDetailService = context.getBean(OrderDetailService.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 orderDetail1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 orderDetail2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orderDetail1 = orderDetailService.save(orderDetail1)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orderDetail2 = orderDetailService.save(orderDetail2)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.println(orderDetail1)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.println(orderDetail2)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 findResult = orderDetailService.findById(orderDetail1.getId())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"Find Result:"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.println(findResult)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C9B887-9836-F63E-0A65-89963F41A895}"/>
              </a:ext>
            </a:extLst>
          </p:cNvPr>
          <p:cNvSpPr/>
          <p:nvPr/>
        </p:nvSpPr>
        <p:spPr>
          <a:xfrm>
            <a:off x="1287625" y="2687216"/>
            <a:ext cx="4052596" cy="83042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D46554-E615-4C42-A006-B78BAD03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727" y="5444137"/>
            <a:ext cx="6873836" cy="80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464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157B3-466C-0030-2D57-28064B72B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5AA117-A9D6-7ABA-7079-AE8FAA231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5270" y="2343347"/>
            <a:ext cx="4121460" cy="217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269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73CC-04E0-6514-71DB-239776538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EmbeddedId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48F76-6EE7-7075-12A3-6AC091BF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8882" y="2164702"/>
            <a:ext cx="9237306" cy="3704392"/>
          </a:xfrm>
        </p:spPr>
        <p:txBody>
          <a:bodyPr>
            <a:normAutofit/>
          </a:bodyPr>
          <a:lstStyle/>
          <a:p>
            <a:r>
              <a:rPr lang="vi-VN"/>
              <a:t>Primitive Types</a:t>
            </a:r>
            <a:endParaRPr lang="en-US"/>
          </a:p>
          <a:p>
            <a:r>
              <a:rPr lang="vi-VN"/>
              <a:t>String</a:t>
            </a:r>
          </a:p>
          <a:p>
            <a:r>
              <a:rPr lang="en-US"/>
              <a:t>array</a:t>
            </a:r>
            <a:endParaRPr lang="vi-VN"/>
          </a:p>
          <a:p>
            <a:r>
              <a:rPr lang="vi-VN"/>
              <a:t>ArrayList, HashMap,</a:t>
            </a:r>
            <a:r>
              <a:rPr lang="en-US"/>
              <a:t>…</a:t>
            </a:r>
            <a:endParaRPr lang="vi-VN"/>
          </a:p>
          <a:p>
            <a:r>
              <a:rPr lang="en-US"/>
              <a:t>Class implement </a:t>
            </a:r>
            <a:r>
              <a:rPr lang="vi-VN"/>
              <a:t>Serializabl</a:t>
            </a:r>
            <a:r>
              <a:rPr lang="en-US"/>
              <a:t>e</a:t>
            </a:r>
            <a:r>
              <a:rPr lang="vi-VN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450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2D89-F0B5-D4A1-F25B-622269590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IdClass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EB3E8A-937A-780C-A422-4310D4BC3B42}"/>
              </a:ext>
            </a:extLst>
          </p:cNvPr>
          <p:cNvSpPr txBox="1"/>
          <p:nvPr/>
        </p:nvSpPr>
        <p:spPr>
          <a:xfrm>
            <a:off x="559837" y="1925378"/>
            <a:ext cx="4823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Cách 2: Sử dụng Embedable và IdClass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9AE87-9298-6497-6A79-B5B75F325F66}"/>
              </a:ext>
            </a:extLst>
          </p:cNvPr>
          <p:cNvSpPr txBox="1"/>
          <p:nvPr/>
        </p:nvSpPr>
        <p:spPr>
          <a:xfrm>
            <a:off x="559837" y="2325488"/>
            <a:ext cx="5197151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(OrderId.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808080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808080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id2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ADD252-8716-14D8-34F3-96D62020D04A}"/>
              </a:ext>
            </a:extLst>
          </p:cNvPr>
          <p:cNvSpPr txBox="1"/>
          <p:nvPr/>
        </p:nvSpPr>
        <p:spPr>
          <a:xfrm>
            <a:off x="6008914" y="2818304"/>
            <a:ext cx="5146766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@Embeddable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OrderId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Serializable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private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id2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DF67-1858-0B74-2EB1-60A4CF2D3D1F}"/>
              </a:ext>
            </a:extLst>
          </p:cNvPr>
          <p:cNvSpPr/>
          <p:nvPr/>
        </p:nvSpPr>
        <p:spPr>
          <a:xfrm>
            <a:off x="559837" y="3620278"/>
            <a:ext cx="1922106" cy="2612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91F575-B369-BED4-5853-B249C80C2EC9}"/>
              </a:ext>
            </a:extLst>
          </p:cNvPr>
          <p:cNvSpPr/>
          <p:nvPr/>
        </p:nvSpPr>
        <p:spPr>
          <a:xfrm>
            <a:off x="765110" y="4264090"/>
            <a:ext cx="410547" cy="2612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F92EE-7A2E-1E75-D9A1-5B9772405938}"/>
              </a:ext>
            </a:extLst>
          </p:cNvPr>
          <p:cNvSpPr/>
          <p:nvPr/>
        </p:nvSpPr>
        <p:spPr>
          <a:xfrm>
            <a:off x="765109" y="4907902"/>
            <a:ext cx="410547" cy="2612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2BDA4-5DE1-384D-538A-EECBFA86DEF4}"/>
              </a:ext>
            </a:extLst>
          </p:cNvPr>
          <p:cNvSpPr/>
          <p:nvPr/>
        </p:nvSpPr>
        <p:spPr>
          <a:xfrm>
            <a:off x="1632857" y="4394718"/>
            <a:ext cx="345233" cy="410547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ECB4BC-549E-2986-8F4A-CED9E6F257F4}"/>
              </a:ext>
            </a:extLst>
          </p:cNvPr>
          <p:cNvSpPr/>
          <p:nvPr/>
        </p:nvSpPr>
        <p:spPr>
          <a:xfrm>
            <a:off x="1785256" y="5038530"/>
            <a:ext cx="345233" cy="410547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11F9FC-9DB3-C686-2841-5B79CBB5FA2F}"/>
              </a:ext>
            </a:extLst>
          </p:cNvPr>
          <p:cNvSpPr/>
          <p:nvPr/>
        </p:nvSpPr>
        <p:spPr>
          <a:xfrm>
            <a:off x="7408506" y="4394718"/>
            <a:ext cx="575387" cy="774441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9ABE11-F9FA-66A3-652B-EA026F2FA269}"/>
              </a:ext>
            </a:extLst>
          </p:cNvPr>
          <p:cNvSpPr/>
          <p:nvPr/>
        </p:nvSpPr>
        <p:spPr>
          <a:xfrm>
            <a:off x="6008913" y="3685592"/>
            <a:ext cx="2211355" cy="29857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FBBB9F-BD09-7288-C10D-45C945C11772}"/>
              </a:ext>
            </a:extLst>
          </p:cNvPr>
          <p:cNvSpPr/>
          <p:nvPr/>
        </p:nvSpPr>
        <p:spPr>
          <a:xfrm>
            <a:off x="9072465" y="3912637"/>
            <a:ext cx="1387151" cy="36389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A66C2E-E13D-1F25-473B-E8C3DBE0EA8C}"/>
              </a:ext>
            </a:extLst>
          </p:cNvPr>
          <p:cNvSpPr/>
          <p:nvPr/>
        </p:nvSpPr>
        <p:spPr>
          <a:xfrm>
            <a:off x="6008913" y="2892491"/>
            <a:ext cx="2152260" cy="50252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9229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E13BB-BF7E-1FB5-D84E-2C2921C1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IdClass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1A11-0E9E-8883-7F96-12C149C05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09883"/>
            <a:ext cx="7178973" cy="4437569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85000" lnSpcReduction="10000"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OrderService orderService = context.getBean(OrderService.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br>
              <a:rPr lang="en-US" sz="1800" i="1">
                <a:solidFill>
                  <a:srgbClr val="9876AA"/>
                </a:solidFill>
                <a:effectLst/>
                <a:latin typeface="JetBrains Mono"/>
              </a:rPr>
            </a:b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order1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UUID.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randomUUID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OrderStatus.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COMPLETED</a:t>
            </a:r>
            <a:br>
              <a:rPr lang="en-US" sz="1800" i="1">
                <a:solidFill>
                  <a:srgbClr val="9876AA"/>
                </a:solidFill>
                <a:effectLst/>
                <a:latin typeface="JetBrains Mono"/>
              </a:rPr>
            </a:b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order1 = orderService.save(order1)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.println(order1)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"Find Result:"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 findResult = orderService.findById(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OrderId(order.getId()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order.getId2()))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.println(findResult)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587A9A-3902-D6E7-9120-A74F6DC85C49}"/>
              </a:ext>
            </a:extLst>
          </p:cNvPr>
          <p:cNvSpPr/>
          <p:nvPr/>
        </p:nvSpPr>
        <p:spPr>
          <a:xfrm>
            <a:off x="1539551" y="2892490"/>
            <a:ext cx="2071396" cy="27991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CE0E9E-AEC8-566B-0357-F573D4FC991A}"/>
              </a:ext>
            </a:extLst>
          </p:cNvPr>
          <p:cNvSpPr/>
          <p:nvPr/>
        </p:nvSpPr>
        <p:spPr>
          <a:xfrm>
            <a:off x="1539551" y="4055015"/>
            <a:ext cx="2071396" cy="17365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E63FB4-6DF5-6086-D7BA-4C6B33B70DB8}"/>
              </a:ext>
            </a:extLst>
          </p:cNvPr>
          <p:cNvSpPr/>
          <p:nvPr/>
        </p:nvSpPr>
        <p:spPr>
          <a:xfrm>
            <a:off x="1272073" y="5457716"/>
            <a:ext cx="6630956" cy="66316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144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61A8-D118-91C7-7BAE-11AD47C65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IdClass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507EC4-3842-3525-E461-33FCBBBEF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2957804"/>
            <a:ext cx="4638027" cy="14507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4F8F01-7DDE-1712-1ECC-A7D77F029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79" y="1956918"/>
            <a:ext cx="8078205" cy="60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29E5-1832-49CF-9E32-77CF57747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371" y="3840357"/>
            <a:ext cx="6797629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327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0DA4E-BFB1-64E2-35CC-DDFAF2E6A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Primary Key - IdClass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F16914-C554-3AD4-4333-7E2CA923F42F}"/>
              </a:ext>
            </a:extLst>
          </p:cNvPr>
          <p:cNvSpPr txBox="1"/>
          <p:nvPr/>
        </p:nvSpPr>
        <p:spPr>
          <a:xfrm>
            <a:off x="3047223" y="1903389"/>
            <a:ext cx="6097554" cy="483209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(OrderId.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id2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@Enumerated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orderStatus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D52727-114B-DBD6-F6C5-0A8853C8650F}"/>
              </a:ext>
            </a:extLst>
          </p:cNvPr>
          <p:cNvSpPr/>
          <p:nvPr/>
        </p:nvSpPr>
        <p:spPr>
          <a:xfrm>
            <a:off x="3191069" y="4077478"/>
            <a:ext cx="3993502" cy="23326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54732-D2C4-26F3-F927-DD3C846E7175}"/>
              </a:ext>
            </a:extLst>
          </p:cNvPr>
          <p:cNvSpPr/>
          <p:nvPr/>
        </p:nvSpPr>
        <p:spPr>
          <a:xfrm>
            <a:off x="3191069" y="4939004"/>
            <a:ext cx="3993502" cy="23326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6588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315D9-5253-02F5-CB12-D316E7321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EmbeddedId &amp; IdClass</a:t>
            </a:r>
          </a:p>
        </p:txBody>
      </p:sp>
    </p:spTree>
    <p:extLst>
      <p:ext uri="{BB962C8B-B14F-4D97-AF65-F5344CB8AC3E}">
        <p14:creationId xmlns:p14="http://schemas.microsoft.com/office/powerpoint/2010/main" val="2571017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9CC88-28F9-241F-E8CC-1146F6A0D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26B25-154C-16D6-7B94-EBA9E993F5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1133" y="2088330"/>
            <a:ext cx="2924214" cy="990772"/>
          </a:xfrm>
        </p:spPr>
        <p:txBody>
          <a:bodyPr/>
          <a:lstStyle/>
          <a:p>
            <a:r>
              <a:rPr lang="en-US"/>
              <a:t>1 Way</a:t>
            </a:r>
          </a:p>
          <a:p>
            <a:r>
              <a:rPr lang="en-US"/>
              <a:t>2 Way</a:t>
            </a:r>
          </a:p>
        </p:txBody>
      </p:sp>
    </p:spTree>
    <p:extLst>
      <p:ext uri="{BB962C8B-B14F-4D97-AF65-F5344CB8AC3E}">
        <p14:creationId xmlns:p14="http://schemas.microsoft.com/office/powerpoint/2010/main" val="38390112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B9936-508F-9EA3-448C-0BF4FA08E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1 Way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AA8A23-5C87-A64E-8CF8-CAB45703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338" y="2030480"/>
            <a:ext cx="4946539" cy="18587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AAEA4B-EF32-6A87-8EED-BC06AF533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687" y="3878045"/>
            <a:ext cx="4743839" cy="223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296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E4A85-21D8-660E-0DEC-6261FFA1C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1 Way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DF2E8A-219B-0028-CA2C-05A47B876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029" y="82600"/>
            <a:ext cx="4403651" cy="16547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3B70AB-FE7F-679B-B42D-F3788ACCA373}"/>
              </a:ext>
            </a:extLst>
          </p:cNvPr>
          <p:cNvSpPr txBox="1"/>
          <p:nvPr/>
        </p:nvSpPr>
        <p:spPr>
          <a:xfrm>
            <a:off x="1227909" y="1867988"/>
            <a:ext cx="4781006" cy="461664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@OneToOne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"account_id"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unique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true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account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E309B-16DF-EB0B-BC31-6B0B574CFFDA}"/>
              </a:ext>
            </a:extLst>
          </p:cNvPr>
          <p:cNvSpPr txBox="1"/>
          <p:nvPr/>
        </p:nvSpPr>
        <p:spPr>
          <a:xfrm>
            <a:off x="6263951" y="1941363"/>
            <a:ext cx="4781006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"accounts"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password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2E8E4B-0507-6F30-CD20-92D751E89677}"/>
              </a:ext>
            </a:extLst>
          </p:cNvPr>
          <p:cNvSpPr/>
          <p:nvPr/>
        </p:nvSpPr>
        <p:spPr>
          <a:xfrm>
            <a:off x="10814179" y="6334780"/>
            <a:ext cx="1847339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E988A9-2AAC-BF50-EC29-59CB2E5B6EDD}"/>
              </a:ext>
            </a:extLst>
          </p:cNvPr>
          <p:cNvSpPr/>
          <p:nvPr/>
        </p:nvSpPr>
        <p:spPr>
          <a:xfrm>
            <a:off x="1362269" y="5318449"/>
            <a:ext cx="3890866" cy="4665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F29917-5D87-6B61-96AB-C54906F8085A}"/>
              </a:ext>
            </a:extLst>
          </p:cNvPr>
          <p:cNvSpPr/>
          <p:nvPr/>
        </p:nvSpPr>
        <p:spPr>
          <a:xfrm>
            <a:off x="4077478" y="5467739"/>
            <a:ext cx="1175657" cy="38255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1623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34F5-731B-2634-F56B-B3460721A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1 Way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FFE2FA-E545-EDC7-22B8-2CCE9358C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751" y="158407"/>
            <a:ext cx="4106929" cy="1931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C24B6D-562B-ADF3-8DEB-B1FA511BCBC1}"/>
              </a:ext>
            </a:extLst>
          </p:cNvPr>
          <p:cNvSpPr txBox="1"/>
          <p:nvPr/>
        </p:nvSpPr>
        <p:spPr>
          <a:xfrm>
            <a:off x="342122" y="2090057"/>
            <a:ext cx="5292168" cy="461664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@OneToOne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"account_id"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referencedColumnName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account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B54C30-27D4-52EB-C481-8A9683CEAE7A}"/>
              </a:ext>
            </a:extLst>
          </p:cNvPr>
          <p:cNvSpPr txBox="1"/>
          <p:nvPr/>
        </p:nvSpPr>
        <p:spPr>
          <a:xfrm>
            <a:off x="5801309" y="2090057"/>
            <a:ext cx="6048569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"accounts"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UUID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password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B976AE-20AE-5563-939A-9C06910735F5}"/>
              </a:ext>
            </a:extLst>
          </p:cNvPr>
          <p:cNvSpPr/>
          <p:nvPr/>
        </p:nvSpPr>
        <p:spPr>
          <a:xfrm>
            <a:off x="558280" y="5533053"/>
            <a:ext cx="1222311" cy="27991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883933-2E78-4241-12E2-EFBCA561E670}"/>
              </a:ext>
            </a:extLst>
          </p:cNvPr>
          <p:cNvSpPr/>
          <p:nvPr/>
        </p:nvSpPr>
        <p:spPr>
          <a:xfrm>
            <a:off x="3219060" y="5738327"/>
            <a:ext cx="2286001" cy="27991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5785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641B2-0E23-6600-6000-8E8F25156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2 Way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DCDEA8-BBA3-E42C-5408-8687272F7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285" y="2694820"/>
            <a:ext cx="4953429" cy="221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027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1C1B1-5272-093E-02D3-8336B4430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2 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400C0A-F5FE-9D82-E599-F3B1F831D473}"/>
              </a:ext>
            </a:extLst>
          </p:cNvPr>
          <p:cNvSpPr txBox="1"/>
          <p:nvPr/>
        </p:nvSpPr>
        <p:spPr>
          <a:xfrm>
            <a:off x="828094" y="1885920"/>
            <a:ext cx="3865204" cy="54784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"accounts"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@OneToOne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@MapsId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“user_id"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password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DF62A-8932-2048-803E-F9D5DA538787}"/>
              </a:ext>
            </a:extLst>
          </p:cNvPr>
          <p:cNvSpPr txBox="1"/>
          <p:nvPr/>
        </p:nvSpPr>
        <p:spPr>
          <a:xfrm>
            <a:off x="4913190" y="1904013"/>
            <a:ext cx="6097554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@OneToOne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(mappedBy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cascade = CascadeType.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ALL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Account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account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422152-9377-A160-165B-1E9881830562}"/>
              </a:ext>
            </a:extLst>
          </p:cNvPr>
          <p:cNvSpPr/>
          <p:nvPr/>
        </p:nvSpPr>
        <p:spPr>
          <a:xfrm>
            <a:off x="979714" y="3592286"/>
            <a:ext cx="1212980" cy="54117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5FAE16-097C-CD30-3F25-0EC1883BE43E}"/>
              </a:ext>
            </a:extLst>
          </p:cNvPr>
          <p:cNvSpPr/>
          <p:nvPr/>
        </p:nvSpPr>
        <p:spPr>
          <a:xfrm>
            <a:off x="979714" y="4198776"/>
            <a:ext cx="2276670" cy="76511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E056EC-9538-9971-FCB7-693126617F5D}"/>
              </a:ext>
            </a:extLst>
          </p:cNvPr>
          <p:cNvSpPr/>
          <p:nvPr/>
        </p:nvSpPr>
        <p:spPr>
          <a:xfrm>
            <a:off x="5116284" y="4497354"/>
            <a:ext cx="4634205" cy="227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9789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5B58F-854E-7116-6F16-9CE66BCAE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2 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DFAD92-0934-0564-E91F-980E94AFEC45}"/>
              </a:ext>
            </a:extLst>
          </p:cNvPr>
          <p:cNvSpPr txBox="1"/>
          <p:nvPr/>
        </p:nvSpPr>
        <p:spPr>
          <a:xfrm>
            <a:off x="1623527" y="2108718"/>
            <a:ext cx="6503436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/>
              <a:t>One – One 2 Way Share Id</a:t>
            </a:r>
          </a:p>
          <a:p>
            <a:pPr>
              <a:lnSpc>
                <a:spcPct val="150000"/>
              </a:lnSpc>
            </a:pPr>
            <a:r>
              <a:rPr lang="en-US" sz="2400" b="1">
                <a:solidFill>
                  <a:srgbClr val="FF0000"/>
                </a:solidFill>
              </a:rPr>
              <a:t>Có hay không One – One 2 Way Independent Id?</a:t>
            </a:r>
          </a:p>
        </p:txBody>
      </p:sp>
    </p:spTree>
    <p:extLst>
      <p:ext uri="{BB962C8B-B14F-4D97-AF65-F5344CB8AC3E}">
        <p14:creationId xmlns:p14="http://schemas.microsoft.com/office/powerpoint/2010/main" val="13794521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6C89B-5124-DAEB-6274-23FC691D5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One | 2 Way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ABB851-6541-F984-8BA8-950C874E6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096" y="2254393"/>
            <a:ext cx="6631808" cy="3345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488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D93E0-CA13-C277-36BC-B1E7B2E99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57FA43-D76F-6788-63B3-9017EB9C3F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0848"/>
          <a:stretch/>
        </p:blipFill>
        <p:spPr>
          <a:xfrm>
            <a:off x="3504975" y="1927270"/>
            <a:ext cx="5182049" cy="17528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69EDC3-FCC8-6B5E-8CCF-47B47676B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511" y="4056634"/>
            <a:ext cx="6226080" cy="184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7133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2AA3A4-D76A-286C-8B4B-A311DDDF5EFD}"/>
              </a:ext>
            </a:extLst>
          </p:cNvPr>
          <p:cNvSpPr txBox="1"/>
          <p:nvPr/>
        </p:nvSpPr>
        <p:spPr>
          <a:xfrm>
            <a:off x="1197817" y="2151587"/>
            <a:ext cx="4898183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"users"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FCFF6F-B003-C292-4CB1-E8C91610A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D59D98-3B19-6EA8-E00F-97639BE81F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0848"/>
          <a:stretch/>
        </p:blipFill>
        <p:spPr>
          <a:xfrm>
            <a:off x="6876660" y="133984"/>
            <a:ext cx="4740175" cy="16033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71E4B3-E068-3468-0DCC-B89D44EE5301}"/>
              </a:ext>
            </a:extLst>
          </p:cNvPr>
          <p:cNvSpPr txBox="1"/>
          <p:nvPr/>
        </p:nvSpPr>
        <p:spPr>
          <a:xfrm>
            <a:off x="6425684" y="2151587"/>
            <a:ext cx="4627985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"shipping_addresses"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address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A90F0D-A437-7E6C-6BBF-F70775DA4288}"/>
              </a:ext>
            </a:extLst>
          </p:cNvPr>
          <p:cNvSpPr/>
          <p:nvPr/>
        </p:nvSpPr>
        <p:spPr>
          <a:xfrm>
            <a:off x="6540759" y="4749282"/>
            <a:ext cx="2687217" cy="44786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305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0A6D4-F46B-F770-F72B-AC6AF151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14358-5016-5F3D-B83C-6B9624168CF3}"/>
              </a:ext>
            </a:extLst>
          </p:cNvPr>
          <p:cNvSpPr txBox="1"/>
          <p:nvPr/>
        </p:nvSpPr>
        <p:spPr>
          <a:xfrm>
            <a:off x="1588847" y="2047082"/>
            <a:ext cx="9075265" cy="45243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UserService userService = context.getBean(UserService.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ShippingAddressService shippingAddressService = context.getBean(ShippingAddressService.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 user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User(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"Nguyen Thanh Tam"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 = userService.save(user)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 shippingAddress1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ShippingAddress(user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"Ho Chi Minh"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 shippingAddress2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ShippingAddress(user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"Dong Thap"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shippingAddress1 = shippingAddressService.save(shippingAddress1)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shippingAddress2 = shippingAddressService.save(shippingAddress2)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.println(user)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.println(shippingAddress1)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.println(shippingAddress2)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543561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62510-E125-C45F-12DF-67141B02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75CD47-E302-5D3F-1A3C-6FCACF8A0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618" y="4173604"/>
            <a:ext cx="4431091" cy="1434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650601-D6F2-FD01-FEF5-67A037DA8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108" y="3758369"/>
            <a:ext cx="3482708" cy="2168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999F58-F640-70A4-933D-F101E038E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1028" y="1994908"/>
            <a:ext cx="7989943" cy="143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3915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24B5C-E121-0335-1D14-9307E7D42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101035-CF94-7720-2654-EB8310BD0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509" y="89881"/>
            <a:ext cx="5411481" cy="16029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3B642-8D2E-0F56-4DDE-29D90A9784D6}"/>
              </a:ext>
            </a:extLst>
          </p:cNvPr>
          <p:cNvSpPr txBox="1"/>
          <p:nvPr/>
        </p:nvSpPr>
        <p:spPr>
          <a:xfrm>
            <a:off x="326572" y="1889514"/>
            <a:ext cx="5542384" cy="477053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"users"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User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AUTO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@OneToMany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(mappedBy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"user"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fetch = FetchType.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List&lt;ShippingAddress&gt;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shippingAddresses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86EB02-C507-B825-6AD3-2E5A8FAA2160}"/>
              </a:ext>
            </a:extLst>
          </p:cNvPr>
          <p:cNvSpPr txBox="1"/>
          <p:nvPr/>
        </p:nvSpPr>
        <p:spPr>
          <a:xfrm>
            <a:off x="6126480" y="1889514"/>
            <a:ext cx="4762344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"shipping_addresses"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address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51661E-7B14-13DD-00D0-2A6C8991FD0F}"/>
              </a:ext>
            </a:extLst>
          </p:cNvPr>
          <p:cNvSpPr/>
          <p:nvPr/>
        </p:nvSpPr>
        <p:spPr>
          <a:xfrm>
            <a:off x="559837" y="5579706"/>
            <a:ext cx="5230741" cy="261256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89532E-78EF-C11B-07F9-CD09FB9C1B10}"/>
              </a:ext>
            </a:extLst>
          </p:cNvPr>
          <p:cNvSpPr/>
          <p:nvPr/>
        </p:nvSpPr>
        <p:spPr>
          <a:xfrm>
            <a:off x="6251509" y="4537787"/>
            <a:ext cx="2547258" cy="40743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852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EFC3C-216C-7F50-4EE9-0CD7E67DA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24399-CF39-6BEE-E99B-5F814A594C97}"/>
              </a:ext>
            </a:extLst>
          </p:cNvPr>
          <p:cNvSpPr txBox="1"/>
          <p:nvPr/>
        </p:nvSpPr>
        <p:spPr>
          <a:xfrm>
            <a:off x="1419186" y="1962292"/>
            <a:ext cx="9414588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UserService userService = context.getBean(UserService.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ShippingAddressService shippingAddressService = context.getBean(ShippingAddressService.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user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"Nguyen Thanh Tam"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= userService.save(user)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 shippingAddress1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ShippingAddress(user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"Ho Chi Minh"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 shippingAddress2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ShippingAddress(user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"Dong Thap"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shippingAddress1 = shippingAddressService.save(shippingAddress1)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shippingAddress2 = shippingAddressService.save(shippingAddress2)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= userService.findById(user.getId())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.println(user)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.println(shippingAddress1)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.println(shippingAddress2)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9357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E274-97F0-F378-EE88-6707B42A5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- Many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52AEC3-21D8-3389-8269-9C1C324E7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909" y="3758369"/>
            <a:ext cx="4431091" cy="1434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A2229A-E622-9613-4E2D-DA7229335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65" y="1918429"/>
            <a:ext cx="10722269" cy="11812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F7E54D-C62F-CDC0-7BA0-B9D6455E5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10" y="3429000"/>
            <a:ext cx="3482708" cy="216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0952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1F57F-B1B6-C5C1-AE38-E34E5EBC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Many Collection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5B5866-CC77-095E-4F13-F013756A7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2807" y="211958"/>
            <a:ext cx="2161913" cy="14507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705C1A-168D-621B-1A28-C7D41EBDBD62}"/>
              </a:ext>
            </a:extLst>
          </p:cNvPr>
          <p:cNvSpPr txBox="1"/>
          <p:nvPr/>
        </p:nvSpPr>
        <p:spPr>
          <a:xfrm>
            <a:off x="3077703" y="1813950"/>
            <a:ext cx="6097554" cy="510909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</a:p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@ElementCollection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(fetch = FetchType.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@CollectionTable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    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"images"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joinColumns =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"image"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List&lt;String&gt;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images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() {  }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(String 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List&lt;String&gt; images)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name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images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images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E92FB7-0C24-02D2-ABD1-86B0F2D43F20}"/>
              </a:ext>
            </a:extLst>
          </p:cNvPr>
          <p:cNvSpPr/>
          <p:nvPr/>
        </p:nvSpPr>
        <p:spPr>
          <a:xfrm>
            <a:off x="3228392" y="3526971"/>
            <a:ext cx="4236098" cy="133427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146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DFFC5-B17F-0DFF-25C6-B23C7A911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Many Collection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7DFC4B-3517-809C-A127-474B686F0FFA}"/>
              </a:ext>
            </a:extLst>
          </p:cNvPr>
          <p:cNvSpPr txBox="1"/>
          <p:nvPr/>
        </p:nvSpPr>
        <p:spPr>
          <a:xfrm>
            <a:off x="3047223" y="2400515"/>
            <a:ext cx="6097554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ProductService productService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ProductServiceImpl()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 product =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"New Product"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Arrays.</a:t>
            </a:r>
            <a:r>
              <a:rPr lang="en-US" sz="1800" i="1">
                <a:solidFill>
                  <a:srgbClr val="A9B7C6"/>
                </a:solidFill>
                <a:effectLst/>
                <a:latin typeface="JetBrains Mono"/>
              </a:rPr>
              <a:t>asList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"image1"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"image2"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"image3"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 = productService.save(product)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.println(product)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21984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B818A-4CED-C9FF-9B59-4A3426BCD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Many Collection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34239-5217-1707-E213-02B34E267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443" y="1904868"/>
            <a:ext cx="6607113" cy="1524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BDC461-1937-75FA-D491-22961D093B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243" y="4324848"/>
            <a:ext cx="3909399" cy="10821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90E4F7-0190-50A7-8DBB-3D5513E48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5753" y="3625622"/>
            <a:ext cx="3075993" cy="2764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3652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6AD8D-F63C-AEC5-652F-59655BC0E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– Many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9468E-2946-FFDF-324C-8EE4AAF7D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9089" y="2956940"/>
            <a:ext cx="6553822" cy="9441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Có thể tạo Collection table nhiều field hay không?</a:t>
            </a:r>
          </a:p>
          <a:p>
            <a:pPr marL="0" indent="0">
              <a:buNone/>
            </a:pPr>
            <a:r>
              <a:rPr lang="en-US" sz="2400" b="1"/>
              <a:t>Có nên tạo Collection table nhiều field hay không?</a:t>
            </a:r>
          </a:p>
        </p:txBody>
      </p:sp>
    </p:spTree>
    <p:extLst>
      <p:ext uri="{BB962C8B-B14F-4D97-AF65-F5344CB8AC3E}">
        <p14:creationId xmlns:p14="http://schemas.microsoft.com/office/powerpoint/2010/main" val="39607507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9CFA9-20B9-2281-F44E-61CFB8B39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DC98BF-3273-C333-F2B1-A328DCC7C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7502" y="2220686"/>
            <a:ext cx="9448178" cy="3648408"/>
          </a:xfrm>
        </p:spPr>
        <p:txBody>
          <a:bodyPr>
            <a:normAutofit/>
          </a:bodyPr>
          <a:lstStyle/>
          <a:p>
            <a:r>
              <a:rPr lang="en-US" sz="2400"/>
              <a:t>@ManyToMany</a:t>
            </a:r>
          </a:p>
          <a:p>
            <a:r>
              <a:rPr lang="en-US" sz="2400"/>
              <a:t>@IdClass</a:t>
            </a:r>
          </a:p>
          <a:p>
            <a:r>
              <a:rPr lang="en-US" sz="2400"/>
              <a:t>@EmbeddedId</a:t>
            </a:r>
          </a:p>
        </p:txBody>
      </p:sp>
    </p:spTree>
    <p:extLst>
      <p:ext uri="{BB962C8B-B14F-4D97-AF65-F5344CB8AC3E}">
        <p14:creationId xmlns:p14="http://schemas.microsoft.com/office/powerpoint/2010/main" val="416399567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58128-1F2F-5EAB-9E2A-B8C91F7D6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 @ManyToMany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F27754-3AB1-43C1-1984-873EAF32E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86603"/>
            <a:ext cx="3302000" cy="9901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A5F553-0233-DB37-15CE-B5DC07379FBB}"/>
              </a:ext>
            </a:extLst>
          </p:cNvPr>
          <p:cNvSpPr txBox="1"/>
          <p:nvPr/>
        </p:nvSpPr>
        <p:spPr>
          <a:xfrm>
            <a:off x="994644" y="1927148"/>
            <a:ext cx="5247536" cy="41857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(columnDefinition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"nvarchar(255)"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@ManyToMany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(mappedBy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"products"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fetch = FetchType.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List&lt;Category&gt;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categories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06A04B-91D3-2659-BC1A-8865053EF8FA}"/>
              </a:ext>
            </a:extLst>
          </p:cNvPr>
          <p:cNvSpPr txBox="1"/>
          <p:nvPr/>
        </p:nvSpPr>
        <p:spPr>
          <a:xfrm>
            <a:off x="6517445" y="1595021"/>
            <a:ext cx="5144900" cy="483209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"categories"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Category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(columnDefinition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"nvarchar(255)"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@ManyToMany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(fetch = FetchType.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@JoinTable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    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"products_categories"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joinColumns =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"category_id"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inverseJoinColumns =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List&lt;Product&gt;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15AAB2-8FB8-8909-90B0-674CEC1254DC}"/>
              </a:ext>
            </a:extLst>
          </p:cNvPr>
          <p:cNvSpPr/>
          <p:nvPr/>
        </p:nvSpPr>
        <p:spPr>
          <a:xfrm>
            <a:off x="1127760" y="5110480"/>
            <a:ext cx="4998720" cy="25462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CC5D9A-7993-45BD-2019-CD2E9995E21E}"/>
              </a:ext>
            </a:extLst>
          </p:cNvPr>
          <p:cNvSpPr/>
          <p:nvPr/>
        </p:nvSpPr>
        <p:spPr>
          <a:xfrm>
            <a:off x="6643396" y="3663198"/>
            <a:ext cx="4823926" cy="201624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1BFC9-7D7D-C575-903C-05789D1774C8}"/>
              </a:ext>
            </a:extLst>
          </p:cNvPr>
          <p:cNvSpPr txBox="1"/>
          <p:nvPr/>
        </p:nvSpPr>
        <p:spPr>
          <a:xfrm>
            <a:off x="9367520" y="2021840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Bên chủ thể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976CA-C7B1-8B99-0FB0-5DAECF29D685}"/>
              </a:ext>
            </a:extLst>
          </p:cNvPr>
          <p:cNvSpPr txBox="1"/>
          <p:nvPr/>
        </p:nvSpPr>
        <p:spPr>
          <a:xfrm>
            <a:off x="3972365" y="2328426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Bên khách thể</a:t>
            </a:r>
          </a:p>
        </p:txBody>
      </p:sp>
    </p:spTree>
    <p:extLst>
      <p:ext uri="{BB962C8B-B14F-4D97-AF65-F5344CB8AC3E}">
        <p14:creationId xmlns:p14="http://schemas.microsoft.com/office/powerpoint/2010/main" val="320037912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1219E-24C8-64F2-7340-CF1CCCCA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|@ManyToMany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A38A8-6279-F798-2041-C6E856CB26DA}"/>
              </a:ext>
            </a:extLst>
          </p:cNvPr>
          <p:cNvSpPr txBox="1"/>
          <p:nvPr/>
        </p:nvSpPr>
        <p:spPr>
          <a:xfrm>
            <a:off x="559836" y="1737360"/>
            <a:ext cx="6596743" cy="50783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public static void </a:t>
            </a:r>
            <a:r>
              <a:rPr lang="en-US" sz="1200">
                <a:solidFill>
                  <a:srgbClr val="FFC66D"/>
                </a:solidFill>
                <a:effectLst/>
                <a:latin typeface="JetBrains Mono"/>
              </a:rPr>
              <a:t>main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(String[] args) {</a:t>
            </a:r>
            <a:br>
              <a:rPr lang="en-US" sz="12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    ApplicationContext context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AnnotationConfigApplicationContext(AppConfig.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ProductService productService = context.getBean(ProductService.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CategoryService categoryService = context.getBean(CategoryService.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 product1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Product(</a:t>
            </a:r>
            <a:r>
              <a:rPr lang="en-US" sz="1200">
                <a:solidFill>
                  <a:srgbClr val="6A8759"/>
                </a:solidFill>
                <a:effectLst/>
                <a:latin typeface="JetBrains Mono"/>
              </a:rPr>
              <a:t>"Product1"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 product2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Product(</a:t>
            </a:r>
            <a:r>
              <a:rPr lang="en-US" sz="1200">
                <a:solidFill>
                  <a:srgbClr val="6A8759"/>
                </a:solidFill>
                <a:effectLst/>
                <a:latin typeface="JetBrains Mono"/>
              </a:rPr>
              <a:t>"Product2"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 product3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Product(</a:t>
            </a:r>
            <a:r>
              <a:rPr lang="en-US" sz="1200">
                <a:solidFill>
                  <a:srgbClr val="6A8759"/>
                </a:solidFill>
                <a:effectLst/>
                <a:latin typeface="JetBrains Mono"/>
              </a:rPr>
              <a:t>"Product3"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product1 = productService.save(product1)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product2 = productService.save(product2)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product3 = productService.save(product3)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 category1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Category(</a:t>
            </a:r>
            <a:br>
              <a:rPr lang="en-US" sz="12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200">
                <a:solidFill>
                  <a:srgbClr val="6A8759"/>
                </a:solidFill>
                <a:effectLst/>
                <a:latin typeface="JetBrains Mono"/>
              </a:rPr>
              <a:t>"Category1"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Arrays.</a:t>
            </a:r>
            <a:r>
              <a:rPr lang="en-US" sz="1200" i="1">
                <a:solidFill>
                  <a:srgbClr val="A9B7C6"/>
                </a:solidFill>
                <a:effectLst/>
                <a:latin typeface="JetBrains Mono"/>
              </a:rPr>
              <a:t>asList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(product1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product2)</a:t>
            </a:r>
            <a:br>
              <a:rPr lang="en-US" sz="12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 category2 = 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Category(</a:t>
            </a:r>
            <a:br>
              <a:rPr lang="en-US" sz="12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            </a:t>
            </a:r>
            <a:r>
              <a:rPr lang="en-US" sz="1200">
                <a:solidFill>
                  <a:srgbClr val="6A8759"/>
                </a:solidFill>
                <a:effectLst/>
                <a:latin typeface="JetBrains Mono"/>
              </a:rPr>
              <a:t>"Category2"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    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Arrays.</a:t>
            </a:r>
            <a:r>
              <a:rPr lang="en-US" sz="1200" i="1">
                <a:solidFill>
                  <a:srgbClr val="A9B7C6"/>
                </a:solidFill>
                <a:effectLst/>
                <a:latin typeface="JetBrains Mono"/>
              </a:rPr>
              <a:t>asList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(product1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product2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product3)</a:t>
            </a:r>
            <a:br>
              <a:rPr lang="en-US" sz="12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    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category1 = categoryService.save(category1)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category2 = categoryService.save(category2)</a:t>
            </a:r>
            <a:r>
              <a:rPr lang="en-US" sz="12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2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2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4416C-4405-073B-C8F9-2BA40C744AED}"/>
              </a:ext>
            </a:extLst>
          </p:cNvPr>
          <p:cNvSpPr txBox="1"/>
          <p:nvPr/>
        </p:nvSpPr>
        <p:spPr>
          <a:xfrm>
            <a:off x="7330131" y="3429000"/>
            <a:ext cx="4484913" cy="138499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.println(product1)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.println(product2)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.println(product3)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.println(category1)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.println(category2)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400">
              <a:solidFill>
                <a:srgbClr val="A9B7C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8080196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0875-6828-9FF1-8CDE-65FF7BB5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 @ManyToMany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92809A-B710-9397-C374-FF8C7243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80" y="1990668"/>
            <a:ext cx="11640840" cy="10820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DCA44C-4FBE-D3D8-DB26-AD69BF8AA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17" y="3320385"/>
            <a:ext cx="3230625" cy="14249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24835-5886-8392-017C-712B27172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4312" y="3349002"/>
            <a:ext cx="3511577" cy="14249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41CF39-1B8A-3474-5258-8838F2799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159" y="3349002"/>
            <a:ext cx="3375730" cy="10820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3CC4EE3-0D1B-86AA-364D-CA268E699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9158" y="5021623"/>
            <a:ext cx="3627434" cy="8611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C9E424-5CFB-E4FA-E12B-ECD2CE7875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9477" y="4998085"/>
            <a:ext cx="3749365" cy="8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6105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7FD1-3BB0-732A-2AE6-4C71A6F08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 @ManyToMany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557E69-B34A-A95B-5B67-2A6430F97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428432"/>
            <a:ext cx="5840801" cy="31211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19A473E-E47F-D0BD-F062-83D2B1836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959" y="1737360"/>
            <a:ext cx="3904761" cy="445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9058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F7229-713C-20DB-92EB-7A757BA38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 @ManyToMany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A14406-8F41-3D80-0A05-D0E045D328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650" b="14247"/>
          <a:stretch/>
        </p:blipFill>
        <p:spPr>
          <a:xfrm>
            <a:off x="2712427" y="1995279"/>
            <a:ext cx="6655508" cy="14507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993B8-BA81-FEB4-74FF-93B868DD68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495" b="7982"/>
          <a:stretch/>
        </p:blipFill>
        <p:spPr>
          <a:xfrm>
            <a:off x="2011326" y="3703956"/>
            <a:ext cx="7356609" cy="1542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33758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16C19-5FC4-FB71-1FF6-6FFE58BA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A2FE4D-58F4-4B8C-C78B-E69D035441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650" b="14247"/>
          <a:stretch/>
        </p:blipFill>
        <p:spPr>
          <a:xfrm>
            <a:off x="6111690" y="178229"/>
            <a:ext cx="5346301" cy="11653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F16EDA-2CDC-3F89-D20F-47BDCB8C9A4A}"/>
              </a:ext>
            </a:extLst>
          </p:cNvPr>
          <p:cNvSpPr txBox="1"/>
          <p:nvPr/>
        </p:nvSpPr>
        <p:spPr>
          <a:xfrm>
            <a:off x="734009" y="1968844"/>
            <a:ext cx="5792910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"products"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Product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@NonNull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(columnDefinition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"nvarchar(255)"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name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FA7BEF-59CE-5984-CA95-56FF6461F040}"/>
              </a:ext>
            </a:extLst>
          </p:cNvPr>
          <p:cNvSpPr txBox="1"/>
          <p:nvPr/>
        </p:nvSpPr>
        <p:spPr>
          <a:xfrm>
            <a:off x="6563308" y="2091955"/>
            <a:ext cx="4894683" cy="37856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@CreationTimestamp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Date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createdAt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727536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20636-0082-3E9E-EADF-A688BBDB1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D6E24C-264C-74A5-4EB4-8B6610917F31}"/>
              </a:ext>
            </a:extLst>
          </p:cNvPr>
          <p:cNvSpPr txBox="1"/>
          <p:nvPr/>
        </p:nvSpPr>
        <p:spPr>
          <a:xfrm>
            <a:off x="883920" y="1899563"/>
            <a:ext cx="4348480" cy="483209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@AllArgsConstructor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"order_details"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(OrderDetailId.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quantity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endParaRPr lang="en-US" sz="14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1F9604-5C23-BAA0-EC2A-C883A44E983A}"/>
              </a:ext>
            </a:extLst>
          </p:cNvPr>
          <p:cNvSpPr txBox="1"/>
          <p:nvPr/>
        </p:nvSpPr>
        <p:spPr>
          <a:xfrm>
            <a:off x="5628640" y="3022947"/>
            <a:ext cx="524256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@Embeddable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OrderDetailId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Serializable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order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private long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product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032EF7-2214-EB52-0996-A3B3A7AE41A2}"/>
              </a:ext>
            </a:extLst>
          </p:cNvPr>
          <p:cNvSpPr/>
          <p:nvPr/>
        </p:nvSpPr>
        <p:spPr>
          <a:xfrm>
            <a:off x="1026160" y="3850640"/>
            <a:ext cx="2651760" cy="47752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3351F2-11C0-9F82-B781-C7312FCC77F2}"/>
              </a:ext>
            </a:extLst>
          </p:cNvPr>
          <p:cNvSpPr/>
          <p:nvPr/>
        </p:nvSpPr>
        <p:spPr>
          <a:xfrm>
            <a:off x="1026160" y="4889827"/>
            <a:ext cx="2722880" cy="47752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E1CA6D-E6DA-1ECF-3C7B-525AF5FA6D09}"/>
              </a:ext>
            </a:extLst>
          </p:cNvPr>
          <p:cNvSpPr/>
          <p:nvPr/>
        </p:nvSpPr>
        <p:spPr>
          <a:xfrm>
            <a:off x="883920" y="3007359"/>
            <a:ext cx="2306320" cy="25434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7A1160-D85F-7FBD-E54A-6493D7477D10}"/>
              </a:ext>
            </a:extLst>
          </p:cNvPr>
          <p:cNvSpPr/>
          <p:nvPr/>
        </p:nvSpPr>
        <p:spPr>
          <a:xfrm>
            <a:off x="5628640" y="3022947"/>
            <a:ext cx="2123440" cy="90897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279A9-601F-5875-C21E-7D28C71C76FE}"/>
              </a:ext>
            </a:extLst>
          </p:cNvPr>
          <p:cNvSpPr/>
          <p:nvPr/>
        </p:nvSpPr>
        <p:spPr>
          <a:xfrm>
            <a:off x="9225280" y="3840480"/>
            <a:ext cx="1229360" cy="34544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821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50C1-775A-C072-E73F-57A7BB2EB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9A0C9-A00D-2777-E2A0-DE1A5C7B5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153" y="1920142"/>
            <a:ext cx="8001693" cy="1569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5024BA-BFC3-D52E-D62B-85144B1D0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43" y="4058864"/>
            <a:ext cx="6149873" cy="12802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B20B6D-9430-F00A-6087-A8149169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947" y="3772381"/>
            <a:ext cx="2877899" cy="269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0385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17D8-AAFA-8936-B1A6-7D41C835D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9647D2-0221-320D-0846-4905CAD4E7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495" b="7982"/>
          <a:stretch/>
        </p:blipFill>
        <p:spPr>
          <a:xfrm>
            <a:off x="5605386" y="0"/>
            <a:ext cx="5701449" cy="1195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29068B-C277-7119-40CC-2F4DFD55C699}"/>
              </a:ext>
            </a:extLst>
          </p:cNvPr>
          <p:cNvSpPr txBox="1"/>
          <p:nvPr/>
        </p:nvSpPr>
        <p:spPr>
          <a:xfrm>
            <a:off x="6412152" y="1195635"/>
            <a:ext cx="4894683" cy="56938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"order_details"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(OrderDetailId.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OrderDetail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quantity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OrderDetail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() {   }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OrderDetail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(Order 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int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quantity) </a:t>
            </a:r>
            <a:r>
              <a:rPr lang="en-US" sz="1400">
                <a:solidFill>
                  <a:srgbClr val="A9B7C6"/>
                </a:solidFill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setOrder(order)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setProduct(product)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setQuantity(quantity)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FA1942-B0C2-8CFA-D384-670656DE436C}"/>
              </a:ext>
            </a:extLst>
          </p:cNvPr>
          <p:cNvSpPr txBox="1"/>
          <p:nvPr/>
        </p:nvSpPr>
        <p:spPr>
          <a:xfrm>
            <a:off x="697153" y="1805051"/>
            <a:ext cx="5573019" cy="501675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@Enumerated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(EnumType.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OrderStatus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status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@CreationTimestamp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Date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createdAt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@OneToMany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(mappedBy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fetch = FetchType.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List&lt;OrderDetail&gt;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orderDetails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public </a:t>
            </a:r>
            <a:r>
              <a:rPr lang="en-US" sz="1600">
                <a:solidFill>
                  <a:srgbClr val="FFC66D"/>
                </a:solidFill>
                <a:effectLst/>
                <a:latin typeface="JetBrains Mono"/>
              </a:rPr>
              <a:t>Order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()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    setStatus(OrderStatus.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WAITING_CONFIRMATION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E5FA7E-B715-A03E-B54F-FBFD44FFE028}"/>
              </a:ext>
            </a:extLst>
          </p:cNvPr>
          <p:cNvSpPr/>
          <p:nvPr/>
        </p:nvSpPr>
        <p:spPr>
          <a:xfrm>
            <a:off x="885165" y="5171440"/>
            <a:ext cx="5302275" cy="65024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58368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2534F-A273-54BD-4DB6-1C5CBCB6F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B85B3D-5AAE-C386-662F-CAB1B73458CC}"/>
              </a:ext>
            </a:extLst>
          </p:cNvPr>
          <p:cNvSpPr txBox="1"/>
          <p:nvPr/>
        </p:nvSpPr>
        <p:spPr>
          <a:xfrm>
            <a:off x="3047223" y="2038968"/>
            <a:ext cx="6097554" cy="403187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 orderService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OrderServiceImpl()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OrderDetailService orderDetailService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OrderDetailServiceImpl()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Order()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 orderDetail1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OrderDetail(order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product1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1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 orderDetail2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OrderDetail(order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product2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6897BB"/>
                </a:solidFill>
                <a:effectLst/>
                <a:latin typeface="JetBrains Mono"/>
              </a:rPr>
              <a:t>2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orderDetail1 = orderDetailService.save(orderDetail1)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orderDetail2 = orderDetailService.save(orderDetail2)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order = orderService.findById(order.getId())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"Order Details"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.println(order.getOrderDetails())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600">
              <a:solidFill>
                <a:srgbClr val="A9B7C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99879433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D718D-F5B7-CE30-829E-8A410A391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6C5D2F-D799-54C3-078C-7BD508D9D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34" y="2731709"/>
            <a:ext cx="8664691" cy="139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5730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33998-B259-D037-1C39-BAC999410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434EB7-B7E0-006B-489C-391387B72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621" y="1878843"/>
            <a:ext cx="9426757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8640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63340-616C-34CC-1885-A3D5DDCB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24A0F2-F360-B96F-7972-788016827CEF}"/>
              </a:ext>
            </a:extLst>
          </p:cNvPr>
          <p:cNvSpPr txBox="1"/>
          <p:nvPr/>
        </p:nvSpPr>
        <p:spPr>
          <a:xfrm>
            <a:off x="5440683" y="582067"/>
            <a:ext cx="3162142" cy="56938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"reviews"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@EmbeddedId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ReviewId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@MapsId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@MapsId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@MapsId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@ManyToOne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@JoinColumn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rating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review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4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2A922-8FD1-AF88-3C0F-12AE9E2B8F0D}"/>
              </a:ext>
            </a:extLst>
          </p:cNvPr>
          <p:cNvSpPr txBox="1"/>
          <p:nvPr/>
        </p:nvSpPr>
        <p:spPr>
          <a:xfrm>
            <a:off x="1187942" y="1841242"/>
            <a:ext cx="4085873" cy="44012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@Embeddable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ReviewId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implements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Serializable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"user_id"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"order_id"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"product_id"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long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ReviewId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}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ReviewId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int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long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long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D704DF-E5E5-BA33-CB68-2D9425DDCCE1}"/>
              </a:ext>
            </a:extLst>
          </p:cNvPr>
          <p:cNvSpPr txBox="1"/>
          <p:nvPr/>
        </p:nvSpPr>
        <p:spPr>
          <a:xfrm>
            <a:off x="8769693" y="2793859"/>
            <a:ext cx="3314699" cy="26776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Review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() { }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400">
                <a:solidFill>
                  <a:srgbClr val="FFC66D"/>
                </a:solidFill>
                <a:effectLst/>
                <a:latin typeface="JetBrains Mono"/>
              </a:rPr>
              <a:t>Review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(User 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 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int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rating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review)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ReviewId(user.getId()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order.getId()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product.getId())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user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order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product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rating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rating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    this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review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= review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4342015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BB4BF-5616-C2AE-9F9C-BC58E1ED8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70F39-9E06-5FF5-0038-5DDA9811D3CE}"/>
              </a:ext>
            </a:extLst>
          </p:cNvPr>
          <p:cNvSpPr txBox="1"/>
          <p:nvPr/>
        </p:nvSpPr>
        <p:spPr>
          <a:xfrm>
            <a:off x="3047223" y="1930493"/>
            <a:ext cx="6097554" cy="41857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UserService userService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UserServiceImpl()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OrderService orderService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OrderServiceImpl()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ReviewService reviewService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ReviewServiceImpl()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user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User(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"Nguyen Thanh Tam"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user = userService.save(user)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order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Order(user)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 = orderService.save(order)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 review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new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Review(user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order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product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6897BB"/>
                </a:solidFill>
                <a:effectLst/>
                <a:latin typeface="JetBrains Mono"/>
              </a:rPr>
              <a:t>5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"Good!!!"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 = reviewService.save(review)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.println(user)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.println(order)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.println(review)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review = reviewService.findById(review.getId())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System.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out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.println(review)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endParaRPr lang="en-US" sz="1400">
              <a:solidFill>
                <a:srgbClr val="A9B7C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87954550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D6C0-072F-C553-160B-95D06175F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Many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B10153-BD3A-81A1-C433-915BF189A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10" y="2905459"/>
            <a:ext cx="3714817" cy="3665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FAFA4A-CF2F-534C-9C1B-DD9D6558E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6827" y="1982043"/>
            <a:ext cx="7825294" cy="189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07449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65E7E-657D-C1E6-FFA2-AC8269734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– Many | Independent Id</a:t>
            </a:r>
          </a:p>
        </p:txBody>
      </p:sp>
    </p:spTree>
    <p:extLst>
      <p:ext uri="{BB962C8B-B14F-4D97-AF65-F5344CB8AC3E}">
        <p14:creationId xmlns:p14="http://schemas.microsoft.com/office/powerpoint/2010/main" val="64049176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F8BF-1014-D3EA-2470-AFF448A27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- Billion</a:t>
            </a:r>
          </a:p>
        </p:txBody>
      </p:sp>
    </p:spTree>
    <p:extLst>
      <p:ext uri="{BB962C8B-B14F-4D97-AF65-F5344CB8AC3E}">
        <p14:creationId xmlns:p14="http://schemas.microsoft.com/office/powerpoint/2010/main" val="330678843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E1DBB-0201-3AFF-8209-5634ADD6E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BCB1-D4A8-0DC2-8E61-8A454189E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JOINED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SINGLE_TABLE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@MappedSuperclass</a:t>
            </a:r>
            <a:endParaRPr lang="en-US" sz="1800">
              <a:solidFill>
                <a:srgbClr val="A9B7C6"/>
              </a:solidFill>
              <a:latin typeface="JetBrains Mono"/>
            </a:endParaRPr>
          </a:p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TABLE_PER_CLASS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650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6BE73-DD1D-F08C-598A-A52829D01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Joined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BC5A04-9C17-9699-1828-92434B2BBA33}"/>
              </a:ext>
            </a:extLst>
          </p:cNvPr>
          <p:cNvSpPr txBox="1"/>
          <p:nvPr/>
        </p:nvSpPr>
        <p:spPr>
          <a:xfrm>
            <a:off x="1097280" y="184869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JOINED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0D1498-F87C-800A-75CF-3FCC006F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027" y="2979745"/>
            <a:ext cx="4005706" cy="25719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65D5BE-FDD9-1B67-C594-9DC8A38BB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652" y="2775890"/>
            <a:ext cx="3977985" cy="297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2029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DE2A-E8F4-9CDE-2331-06B534F2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|Joined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81F33-0EEE-B4CD-3FB6-64253E30403D}"/>
              </a:ext>
            </a:extLst>
          </p:cNvPr>
          <p:cNvSpPr txBox="1"/>
          <p:nvPr/>
        </p:nvSpPr>
        <p:spPr>
          <a:xfrm>
            <a:off x="699796" y="1954749"/>
            <a:ext cx="4509019" cy="41857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"persons"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JOINED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abstract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phone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B70C3-35CA-4D64-DAEF-0E3E6FEAC399}"/>
              </a:ext>
            </a:extLst>
          </p:cNvPr>
          <p:cNvSpPr txBox="1"/>
          <p:nvPr/>
        </p:nvSpPr>
        <p:spPr>
          <a:xfrm>
            <a:off x="5367436" y="1862807"/>
            <a:ext cx="5922606" cy="224676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"employees"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Employee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department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FA8BA4-8386-6252-5CC6-5B6D0A32C992}"/>
              </a:ext>
            </a:extLst>
          </p:cNvPr>
          <p:cNvSpPr txBox="1"/>
          <p:nvPr/>
        </p:nvSpPr>
        <p:spPr>
          <a:xfrm>
            <a:off x="5367436" y="4210142"/>
            <a:ext cx="5922606" cy="24622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"customers"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Customer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"shipping_address"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shippingAddress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77B8E7-6717-1891-70A5-671AF198CB7D}"/>
              </a:ext>
            </a:extLst>
          </p:cNvPr>
          <p:cNvSpPr/>
          <p:nvPr/>
        </p:nvSpPr>
        <p:spPr>
          <a:xfrm>
            <a:off x="752669" y="3030413"/>
            <a:ext cx="3806890" cy="29857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95DB37-10AD-267B-5AD6-30EE2A77CE1F}"/>
              </a:ext>
            </a:extLst>
          </p:cNvPr>
          <p:cNvSpPr/>
          <p:nvPr/>
        </p:nvSpPr>
        <p:spPr>
          <a:xfrm>
            <a:off x="7084422" y="2974131"/>
            <a:ext cx="1397104" cy="26593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E222D8-422A-662C-B6E9-CA9BB6101E80}"/>
              </a:ext>
            </a:extLst>
          </p:cNvPr>
          <p:cNvSpPr/>
          <p:nvPr/>
        </p:nvSpPr>
        <p:spPr>
          <a:xfrm>
            <a:off x="7084422" y="5308279"/>
            <a:ext cx="1397104" cy="26593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24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0F312-CF7A-B638-8C70-1881630D7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Joined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358EED-2019-B2E1-DC9C-DE21D03F4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277" y="3429000"/>
            <a:ext cx="2743438" cy="10821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075C22-C3AD-35D1-AAC7-34A3EEF82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015" y="3422468"/>
            <a:ext cx="2353840" cy="10821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8BBB681-49B9-D4AC-0E93-827C31D27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610" y="3192760"/>
            <a:ext cx="2918713" cy="13183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0EBAE9-D192-B8D0-EAD8-58286D6293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277" y="4784860"/>
            <a:ext cx="3787468" cy="8535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1B4B9B-A535-52B5-C987-375B2DA66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6935" y="4699140"/>
            <a:ext cx="3756986" cy="9221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DB470BA-B39D-8BC1-D111-911319A75D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0807" y="2011086"/>
            <a:ext cx="3890386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59697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C91F5-2BE1-1804-E539-0F3DB6F8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Joined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CD8F54-CCCD-E91C-F46B-9BA885956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78" y="2233930"/>
            <a:ext cx="3901778" cy="29872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2DB834-4149-A18E-3EB6-E4FAE546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058" y="2479499"/>
            <a:ext cx="3814490" cy="248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68956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67CEF-D81F-C24A-6AF6-10519B78E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Joined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C84BB-37AB-36DB-6107-596C55F9C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849" y="2032347"/>
            <a:ext cx="9494831" cy="4023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b="1"/>
              <a:t>Ưu điểm: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Table được chuẩn hóa, không gây dư thừa, trùng lắp dữ liệu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Có thể config column not null, unique</a:t>
            </a:r>
          </a:p>
          <a:p>
            <a:pPr>
              <a:lnSpc>
                <a:spcPct val="150000"/>
              </a:lnSpc>
            </a:pPr>
            <a:r>
              <a:rPr lang="en-US" sz="2400" b="1"/>
              <a:t>Nhược điểm: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Hiệu năng không tốt, cần join khi query</a:t>
            </a:r>
          </a:p>
        </p:txBody>
      </p:sp>
    </p:spTree>
    <p:extLst>
      <p:ext uri="{BB962C8B-B14F-4D97-AF65-F5344CB8AC3E}">
        <p14:creationId xmlns:p14="http://schemas.microsoft.com/office/powerpoint/2010/main" val="46727034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DF82-C0F4-88E8-16DA-6C743F1F3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Single Table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9C6D8-844C-A546-6DA5-2B7DA6D91F5D}"/>
              </a:ext>
            </a:extLst>
          </p:cNvPr>
          <p:cNvSpPr txBox="1"/>
          <p:nvPr/>
        </p:nvSpPr>
        <p:spPr>
          <a:xfrm>
            <a:off x="1097280" y="1857283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SINGLE_TABLE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424374-D5A4-9EE8-104D-D48308A7F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834" y="3065920"/>
            <a:ext cx="3218977" cy="22271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60C668-96E7-6385-24F6-4EC38FDEF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113" y="2893504"/>
            <a:ext cx="4005706" cy="257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1228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ED1F7-F017-8452-B650-EF4CC09C3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Single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00C3A-AA62-C46A-BF18-A005A2B2E85A}"/>
              </a:ext>
            </a:extLst>
          </p:cNvPr>
          <p:cNvSpPr txBox="1"/>
          <p:nvPr/>
        </p:nvSpPr>
        <p:spPr>
          <a:xfrm>
            <a:off x="706794" y="1975687"/>
            <a:ext cx="5600699" cy="477053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"persons"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SINGLE_TABLE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abstract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phone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FF808F-1E58-1C8A-4375-2CCB9D6A4329}"/>
              </a:ext>
            </a:extLst>
          </p:cNvPr>
          <p:cNvSpPr txBox="1"/>
          <p:nvPr/>
        </p:nvSpPr>
        <p:spPr>
          <a:xfrm>
            <a:off x="6497371" y="1797090"/>
            <a:ext cx="5386095" cy="255454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Customer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"shipping_address"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shippingAddress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38FC13-68E4-6754-202D-DC16EF06BAAB}"/>
              </a:ext>
            </a:extLst>
          </p:cNvPr>
          <p:cNvSpPr txBox="1"/>
          <p:nvPr/>
        </p:nvSpPr>
        <p:spPr>
          <a:xfrm>
            <a:off x="6497372" y="4411366"/>
            <a:ext cx="5386095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Employee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department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789B6B-B823-B609-7F92-A3692E1745B4}"/>
              </a:ext>
            </a:extLst>
          </p:cNvPr>
          <p:cNvSpPr/>
          <p:nvPr/>
        </p:nvSpPr>
        <p:spPr>
          <a:xfrm>
            <a:off x="706794" y="2733870"/>
            <a:ext cx="5115508" cy="774440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D2FA22-2A68-D6E4-7EF8-637AAC83D18F}"/>
              </a:ext>
            </a:extLst>
          </p:cNvPr>
          <p:cNvSpPr/>
          <p:nvPr/>
        </p:nvSpPr>
        <p:spPr>
          <a:xfrm>
            <a:off x="8388220" y="2753371"/>
            <a:ext cx="1632858" cy="381715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858E40-81EB-0EBE-CD56-CE9C979BDF3B}"/>
              </a:ext>
            </a:extLst>
          </p:cNvPr>
          <p:cNvSpPr/>
          <p:nvPr/>
        </p:nvSpPr>
        <p:spPr>
          <a:xfrm>
            <a:off x="8388220" y="5374670"/>
            <a:ext cx="1530221" cy="381715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235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7990B-A3AE-7397-DDDE-E9C895555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Single 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56BEB4-38E7-EAE3-875D-25B95B640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930" y="1983886"/>
            <a:ext cx="4660139" cy="11045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E3E2C7-D0CD-D39A-449E-3D4579F17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302" y="3429000"/>
            <a:ext cx="3567396" cy="229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7899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4406-303B-FC06-93C7-F3E3D1145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86059A-7844-6DB0-3769-A47B62A24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557" y="2689023"/>
            <a:ext cx="3218977" cy="22271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4D38E-7941-FCFE-9B45-00EB1725A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190" y="3429000"/>
            <a:ext cx="7124431" cy="88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7805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A1281-D2CD-A2EF-3CF9-1CB5F7E70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Single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94584-7724-F4C3-B5DE-FC57792B1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8212" y="2006082"/>
            <a:ext cx="10058400" cy="3863012"/>
          </a:xfrm>
        </p:spPr>
        <p:txBody>
          <a:bodyPr>
            <a:normAutofit fontScale="85000" lnSpcReduction="20000"/>
          </a:bodyPr>
          <a:lstStyle/>
          <a:p>
            <a:r>
              <a:rPr lang="fr-FR" sz="2400"/>
              <a:t>Parrent Class</a:t>
            </a:r>
          </a:p>
          <a:p>
            <a:r>
              <a:rPr lang="fr-FR" sz="2100">
                <a:solidFill>
                  <a:srgbClr val="BBB529"/>
                </a:solidFill>
                <a:effectLst/>
                <a:latin typeface="JetBrains Mono"/>
              </a:rPr>
              <a:t>@DiscriminatorColumn</a:t>
            </a:r>
            <a:r>
              <a:rPr lang="fr-FR" sz="21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fr-FR" sz="2100">
                <a:solidFill>
                  <a:srgbClr val="6A8759"/>
                </a:solidFill>
                <a:effectLst/>
                <a:latin typeface="JetBrains Mono"/>
              </a:rPr>
              <a:t> "person_type"</a:t>
            </a:r>
            <a:r>
              <a:rPr lang="fr-FR" sz="21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fr-FR" sz="2100">
                <a:solidFill>
                  <a:srgbClr val="A9B7C6"/>
                </a:solidFill>
                <a:effectLst/>
                <a:latin typeface="JetBrains Mono"/>
              </a:rPr>
              <a:t>discriminatorType = DiscriminatorType.</a:t>
            </a:r>
            <a:r>
              <a:rPr lang="fr-FR" sz="2100" i="1">
                <a:solidFill>
                  <a:srgbClr val="9876AA"/>
                </a:solidFill>
                <a:effectLst/>
                <a:latin typeface="JetBrains Mono"/>
              </a:rPr>
              <a:t>INTEGER</a:t>
            </a:r>
            <a:r>
              <a:rPr lang="fr-FR" sz="21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  <a:p>
            <a:endParaRPr lang="en-US" sz="2400"/>
          </a:p>
          <a:p>
            <a:r>
              <a:rPr lang="en-US" sz="2400"/>
              <a:t>Child Class</a:t>
            </a:r>
          </a:p>
          <a:p>
            <a:r>
              <a:rPr lang="en-US" sz="2100">
                <a:solidFill>
                  <a:srgbClr val="BBB529"/>
                </a:solidFill>
                <a:effectLst/>
                <a:latin typeface="JetBrains Mono"/>
              </a:rPr>
              <a:t>@DiscriminatorValue</a:t>
            </a:r>
            <a:r>
              <a:rPr lang="en-US" sz="2100">
                <a:solidFill>
                  <a:srgbClr val="A9B7C6"/>
                </a:solidFill>
                <a:effectLst/>
                <a:latin typeface="JetBrains Mono"/>
              </a:rPr>
              <a:t>(value = </a:t>
            </a:r>
            <a:r>
              <a:rPr lang="en-US" sz="2100">
                <a:solidFill>
                  <a:srgbClr val="6A8759"/>
                </a:solidFill>
                <a:effectLst/>
                <a:latin typeface="JetBrains Mono"/>
              </a:rPr>
              <a:t>“1"</a:t>
            </a:r>
            <a:r>
              <a:rPr lang="en-US" sz="2100">
                <a:solidFill>
                  <a:srgbClr val="A9B7C6"/>
                </a:solidFill>
                <a:effectLst/>
                <a:latin typeface="JetBrains Mono"/>
              </a:rPr>
              <a:t>)</a:t>
            </a:r>
            <a:endParaRPr lang="en-US" sz="3300"/>
          </a:p>
          <a:p>
            <a:endParaRPr lang="en-US" sz="2400"/>
          </a:p>
          <a:p>
            <a:r>
              <a:rPr lang="fr-FR" sz="2400">
                <a:solidFill>
                  <a:srgbClr val="A9B7C6"/>
                </a:solidFill>
                <a:effectLst/>
                <a:latin typeface="JetBrains Mono"/>
              </a:rPr>
              <a:t>discriminatorType</a:t>
            </a:r>
          </a:p>
          <a:p>
            <a:r>
              <a:rPr lang="en-US">
                <a:solidFill>
                  <a:srgbClr val="A9B7C6"/>
                </a:solidFill>
                <a:effectLst/>
                <a:latin typeface="JetBrains Mono"/>
              </a:rPr>
              <a:t>DiscriminatorType.</a:t>
            </a:r>
            <a:r>
              <a:rPr lang="en-US" i="1">
                <a:solidFill>
                  <a:srgbClr val="9876AA"/>
                </a:solidFill>
                <a:effectLst/>
                <a:latin typeface="JetBrains Mono"/>
              </a:rPr>
              <a:t>STRING</a:t>
            </a:r>
            <a:r>
              <a:rPr lang="en-US" i="1">
                <a:solidFill>
                  <a:srgbClr val="A9B7C6"/>
                </a:solidFill>
                <a:latin typeface="JetBrains Mono"/>
              </a:rPr>
              <a:t> (Default)</a:t>
            </a:r>
            <a:endParaRPr lang="fr-FR" sz="2400">
              <a:solidFill>
                <a:srgbClr val="A9B7C6"/>
              </a:solidFill>
              <a:effectLst/>
              <a:latin typeface="JetBrains Mono"/>
            </a:endParaRPr>
          </a:p>
          <a:p>
            <a:r>
              <a:rPr lang="en-US">
                <a:solidFill>
                  <a:srgbClr val="A9B7C6"/>
                </a:solidFill>
                <a:effectLst/>
                <a:latin typeface="JetBrains Mono"/>
              </a:rPr>
              <a:t>DiscriminatorType.</a:t>
            </a:r>
            <a:r>
              <a:rPr lang="en-US" i="1">
                <a:solidFill>
                  <a:srgbClr val="9876AA"/>
                </a:solidFill>
                <a:effectLst/>
                <a:latin typeface="JetBrains Mono"/>
              </a:rPr>
              <a:t>INTEGER</a:t>
            </a:r>
            <a:endParaRPr lang="en-US">
              <a:solidFill>
                <a:srgbClr val="A9B7C6"/>
              </a:solidFill>
              <a:effectLst/>
              <a:latin typeface="JetBrains Mono"/>
            </a:endParaRPr>
          </a:p>
          <a:p>
            <a:r>
              <a:rPr lang="en-US">
                <a:solidFill>
                  <a:srgbClr val="A9B7C6"/>
                </a:solidFill>
                <a:effectLst/>
                <a:latin typeface="JetBrains Mono"/>
              </a:rPr>
              <a:t>DiscriminatorType.</a:t>
            </a:r>
            <a:r>
              <a:rPr lang="en-US" i="1">
                <a:solidFill>
                  <a:srgbClr val="9876AA"/>
                </a:solidFill>
                <a:effectLst/>
                <a:latin typeface="JetBrains Mono"/>
              </a:rPr>
              <a:t>CHAR</a:t>
            </a:r>
            <a:endParaRPr lang="en-US">
              <a:solidFill>
                <a:srgbClr val="A9B7C6"/>
              </a:solidFill>
              <a:effectLst/>
              <a:latin typeface="JetBrains Mono"/>
            </a:endParaRPr>
          </a:p>
          <a:p>
            <a:pPr marL="0" indent="0">
              <a:buNone/>
            </a:pPr>
            <a:endParaRPr lang="en-US" sz="2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FD3F3-D0EE-D4CF-939D-A175C9DE9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597" y="4748871"/>
            <a:ext cx="6400015" cy="74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7064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5DA5B-B5AA-5A3F-077E-21E360FB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Single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E531-DA91-68EA-4990-A8E034BD6A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2188" y="2276669"/>
            <a:ext cx="9513492" cy="3480457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400" b="1"/>
              <a:t>Ưu điểm: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Chỉ tạo 1 table trong database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Hiệu năng tốt do không cần Join khi query, chỉ cần query 1 table duy nhất</a:t>
            </a:r>
          </a:p>
          <a:p>
            <a:pPr>
              <a:lnSpc>
                <a:spcPct val="150000"/>
              </a:lnSpc>
            </a:pPr>
            <a:r>
              <a:rPr lang="en-US" sz="2400" b="1"/>
              <a:t>Nhược điểm: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Không thể config column not null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Không thể config unique, trùng lắp dữ liệu</a:t>
            </a:r>
          </a:p>
          <a:p>
            <a:pPr lvl="1">
              <a:lnSpc>
                <a:spcPct val="150000"/>
              </a:lnSpc>
            </a:pPr>
            <a:r>
              <a:rPr lang="en-US" sz="2000"/>
              <a:t>Table không được chuẩn hóa, null column</a:t>
            </a:r>
          </a:p>
        </p:txBody>
      </p:sp>
    </p:spTree>
    <p:extLst>
      <p:ext uri="{BB962C8B-B14F-4D97-AF65-F5344CB8AC3E}">
        <p14:creationId xmlns:p14="http://schemas.microsoft.com/office/powerpoint/2010/main" val="83731151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518-B4FD-5E01-BE2A-1EDE6F336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Table Per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E6CDE-4155-EB76-D8BC-66E26997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800" i="1">
                <a:solidFill>
                  <a:srgbClr val="9876AA"/>
                </a:solidFill>
                <a:effectLst/>
                <a:latin typeface="JetBrains Mono"/>
              </a:rPr>
              <a:t>TABLE_PER_CLASS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0433B6-D23C-3C2D-6414-1303C1638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615" y="2884174"/>
            <a:ext cx="4005706" cy="2571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01808-6F66-40AC-541D-AC0C0BBF4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549" y="3340363"/>
            <a:ext cx="4543903" cy="1659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16643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5A22A-05C2-E596-8C1D-41FA1F8E8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Table Per Class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B10051-48A4-2142-F8C9-C3C7A4C9C0B3}"/>
              </a:ext>
            </a:extLst>
          </p:cNvPr>
          <p:cNvSpPr txBox="1"/>
          <p:nvPr/>
        </p:nvSpPr>
        <p:spPr>
          <a:xfrm>
            <a:off x="296247" y="1917098"/>
            <a:ext cx="4620986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@Inheritance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InheritanceType.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TABLE_PER_CLASS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abstract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4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phone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D9A896-616D-3973-08B0-61D076D53D03}"/>
              </a:ext>
            </a:extLst>
          </p:cNvPr>
          <p:cNvSpPr txBox="1"/>
          <p:nvPr/>
        </p:nvSpPr>
        <p:spPr>
          <a:xfrm>
            <a:off x="5064191" y="3429000"/>
            <a:ext cx="3939850" cy="24622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"customers"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Customer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"shipping_address"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shippingAddress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DE6D50-3300-C024-54B7-5C90D55A9501}"/>
              </a:ext>
            </a:extLst>
          </p:cNvPr>
          <p:cNvSpPr txBox="1"/>
          <p:nvPr/>
        </p:nvSpPr>
        <p:spPr>
          <a:xfrm>
            <a:off x="7630110" y="1901614"/>
            <a:ext cx="3939850" cy="224676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4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400">
                <a:solidFill>
                  <a:srgbClr val="6A8759"/>
                </a:solidFill>
                <a:effectLst/>
                <a:latin typeface="JetBrains Mono"/>
              </a:rPr>
              <a:t>"employees"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Employee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400">
                <a:solidFill>
                  <a:srgbClr val="9876AA"/>
                </a:solidFill>
                <a:effectLst/>
                <a:latin typeface="JetBrains Mono"/>
              </a:rPr>
              <a:t>department</a:t>
            </a:r>
            <a:r>
              <a:rPr lang="en-US" sz="14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4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4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E472F3-64ED-D397-DB35-D61799BE565A}"/>
              </a:ext>
            </a:extLst>
          </p:cNvPr>
          <p:cNvSpPr/>
          <p:nvPr/>
        </p:nvSpPr>
        <p:spPr>
          <a:xfrm>
            <a:off x="355730" y="2593910"/>
            <a:ext cx="4620986" cy="46653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CD462-483E-7001-09D2-B15BCE0CDBD5}"/>
              </a:ext>
            </a:extLst>
          </p:cNvPr>
          <p:cNvSpPr/>
          <p:nvPr/>
        </p:nvSpPr>
        <p:spPr>
          <a:xfrm>
            <a:off x="6708710" y="4516016"/>
            <a:ext cx="1203649" cy="24259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0C3C53-797F-CFD6-AF2E-7635EAFD337F}"/>
              </a:ext>
            </a:extLst>
          </p:cNvPr>
          <p:cNvSpPr/>
          <p:nvPr/>
        </p:nvSpPr>
        <p:spPr>
          <a:xfrm>
            <a:off x="9296400" y="3024998"/>
            <a:ext cx="1203649" cy="24259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63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5C269-35EB-6BAD-1B00-8749ED904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Table Per 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FEDB0A-9CF9-268A-017F-EC9AABE2E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210" y="2048223"/>
            <a:ext cx="4345580" cy="1529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971BB0-1D03-4D05-33B9-C060E025E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455" y="3969799"/>
            <a:ext cx="3643280" cy="1899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EAA043-F81D-605E-6A1C-5CEB034C3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113" y="3969799"/>
            <a:ext cx="3857354" cy="1899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54080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E9A2-7C3E-D13F-1588-7C3B43E2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Table Per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E8FBE9-4D9C-E09A-E6B8-C388034C8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20" y="2957840"/>
            <a:ext cx="4543903" cy="16595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A13C59-AC66-5152-0CCA-08FD49ECF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635" y="3107129"/>
            <a:ext cx="4114445" cy="1327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445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76FAD-9EA8-D737-CE2D-E5A9B128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MappedSuperclass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27E958-B81A-E5BE-B1ED-8D07B6AD983B}"/>
              </a:ext>
            </a:extLst>
          </p:cNvPr>
          <p:cNvSpPr txBox="1"/>
          <p:nvPr/>
        </p:nvSpPr>
        <p:spPr>
          <a:xfrm>
            <a:off x="1097280" y="184611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@MappedSuperclass</a:t>
            </a:r>
            <a:endParaRPr lang="en-US" sz="1800">
              <a:solidFill>
                <a:srgbClr val="A9B7C6"/>
              </a:solidFill>
              <a:effectLst/>
              <a:latin typeface="JetBrains Mon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69C739-750A-17D5-4AC1-B36ACC86B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615" y="2669569"/>
            <a:ext cx="4005706" cy="25719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BCB024-3BBE-B4CD-0711-9A39012E5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447" y="2990614"/>
            <a:ext cx="4543903" cy="1659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5607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6B293-DB31-64EB-034D-68E52242E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MappedSuperclass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671001-D2CF-F129-D862-83B9F08E4318}"/>
              </a:ext>
            </a:extLst>
          </p:cNvPr>
          <p:cNvSpPr txBox="1"/>
          <p:nvPr/>
        </p:nvSpPr>
        <p:spPr>
          <a:xfrm>
            <a:off x="950440" y="2000509"/>
            <a:ext cx="3649552" cy="477053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@MappedSuperclass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abstract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@Id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    @GeneratedValue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(strategy = GenerationType.</a:t>
            </a:r>
            <a:r>
              <a:rPr lang="en-US" sz="1600" i="1">
                <a:solidFill>
                  <a:srgbClr val="9876AA"/>
                </a:solidFill>
                <a:effectLst/>
                <a:latin typeface="JetBrains Mono"/>
              </a:rPr>
              <a:t>IDENTITY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int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id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"full_name"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fullName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(nullable =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false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phone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331529-41C8-DE79-53DB-FDBCFFEFDB74}"/>
              </a:ext>
            </a:extLst>
          </p:cNvPr>
          <p:cNvSpPr txBox="1"/>
          <p:nvPr/>
        </p:nvSpPr>
        <p:spPr>
          <a:xfrm>
            <a:off x="4700918" y="2000509"/>
            <a:ext cx="4658308" cy="280076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"customers"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Customer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@Column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"shipping_address"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shippingAddress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D9349-F165-DDA9-0CFC-1045E2CD0B07}"/>
              </a:ext>
            </a:extLst>
          </p:cNvPr>
          <p:cNvSpPr txBox="1"/>
          <p:nvPr/>
        </p:nvSpPr>
        <p:spPr>
          <a:xfrm>
            <a:off x="7781731" y="4211277"/>
            <a:ext cx="4190378" cy="255454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@SuperBuilder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6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600">
                <a:solidFill>
                  <a:srgbClr val="6A8759"/>
                </a:solidFill>
                <a:effectLst/>
                <a:latin typeface="JetBrains Mono"/>
              </a:rPr>
              <a:t>"employees"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Employee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extends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Person {</a:t>
            </a: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    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private </a:t>
            </a: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String </a:t>
            </a:r>
            <a:r>
              <a:rPr lang="en-US" sz="1600">
                <a:solidFill>
                  <a:srgbClr val="9876AA"/>
                </a:solidFill>
                <a:effectLst/>
                <a:latin typeface="JetBrains Mono"/>
              </a:rPr>
              <a:t>department</a:t>
            </a:r>
            <a:r>
              <a:rPr lang="en-US" sz="16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br>
              <a:rPr lang="en-US" sz="16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6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3BBED0-063F-9B27-471E-74E1C626333F}"/>
              </a:ext>
            </a:extLst>
          </p:cNvPr>
          <p:cNvSpPr/>
          <p:nvPr/>
        </p:nvSpPr>
        <p:spPr>
          <a:xfrm>
            <a:off x="950440" y="2799184"/>
            <a:ext cx="2121781" cy="26238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942F10-133A-EBE9-52E8-41C62BB8219E}"/>
              </a:ext>
            </a:extLst>
          </p:cNvPr>
          <p:cNvSpPr/>
          <p:nvPr/>
        </p:nvSpPr>
        <p:spPr>
          <a:xfrm>
            <a:off x="6607901" y="3269699"/>
            <a:ext cx="1463079" cy="25727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C1D845-35CF-0A90-477F-45057F3DD29D}"/>
              </a:ext>
            </a:extLst>
          </p:cNvPr>
          <p:cNvSpPr/>
          <p:nvPr/>
        </p:nvSpPr>
        <p:spPr>
          <a:xfrm>
            <a:off x="9692601" y="5488549"/>
            <a:ext cx="1463079" cy="25727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58750E-1DD3-C3D1-9C32-2884A01D20F2}"/>
              </a:ext>
            </a:extLst>
          </p:cNvPr>
          <p:cNvSpPr/>
          <p:nvPr/>
        </p:nvSpPr>
        <p:spPr>
          <a:xfrm>
            <a:off x="7781731" y="5228312"/>
            <a:ext cx="2603240" cy="25727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C4CE63-28D6-C8D9-353D-437CEA516A0A}"/>
              </a:ext>
            </a:extLst>
          </p:cNvPr>
          <p:cNvSpPr/>
          <p:nvPr/>
        </p:nvSpPr>
        <p:spPr>
          <a:xfrm>
            <a:off x="4754997" y="3012428"/>
            <a:ext cx="2603240" cy="25727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8843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A9EC5-0043-D92C-D7E9-A22AA07B7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MappedSuperclass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804858-0EB5-951C-2C8B-E8EAA1BB1C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865" y="3988989"/>
            <a:ext cx="3481698" cy="17723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84F727-94E5-C03B-D702-9D7FB363B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988989"/>
            <a:ext cx="3419356" cy="1772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C717CC-524F-48BD-169E-D2D6D50C9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210" y="2048223"/>
            <a:ext cx="4345580" cy="15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81365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B8AD-7942-2FCD-1817-15D7E0B2A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| MappedSuperclass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3F3897-EC7C-F142-5CC8-AE93E6120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97" y="2915317"/>
            <a:ext cx="4543903" cy="16595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A56037-7278-E6DB-B07A-EC6377224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760" y="3086953"/>
            <a:ext cx="4114445" cy="1327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4084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0E620-84A2-2C24-0812-66DBF150F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Per Class vs MappedSupperclass</a:t>
            </a:r>
          </a:p>
        </p:txBody>
      </p:sp>
    </p:spTree>
    <p:extLst>
      <p:ext uri="{BB962C8B-B14F-4D97-AF65-F5344CB8AC3E}">
        <p14:creationId xmlns:p14="http://schemas.microsoft.com/office/powerpoint/2010/main" val="355488382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5376D-841C-0E9F-B5A1-BFB1798D0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079FF-8EF3-93A1-2D9A-121B80EAF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7584" y="2090056"/>
            <a:ext cx="9470571" cy="377903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A9B7C6"/>
                </a:solidFill>
                <a:effectLst/>
                <a:latin typeface="JetBrains Mono"/>
              </a:rPr>
              <a:t>FetchType.</a:t>
            </a:r>
            <a:r>
              <a:rPr lang="en-US" i="1">
                <a:solidFill>
                  <a:srgbClr val="9876AA"/>
                </a:solidFill>
                <a:effectLst/>
                <a:latin typeface="JetBrains Mono"/>
              </a:rPr>
              <a:t>EAGER</a:t>
            </a:r>
            <a:endParaRPr lang="en-US">
              <a:solidFill>
                <a:srgbClr val="A9B7C6"/>
              </a:solidFill>
              <a:effectLst/>
              <a:latin typeface="JetBrains Mono"/>
            </a:endParaRPr>
          </a:p>
          <a:p>
            <a:r>
              <a:rPr lang="en-US">
                <a:solidFill>
                  <a:srgbClr val="A9B7C6"/>
                </a:solidFill>
                <a:effectLst/>
                <a:latin typeface="JetBrains Mono"/>
              </a:rPr>
              <a:t>FetchType.</a:t>
            </a:r>
            <a:r>
              <a:rPr lang="en-US" i="1">
                <a:solidFill>
                  <a:srgbClr val="9876AA"/>
                </a:solidFill>
                <a:effectLst/>
                <a:latin typeface="JetBrains Mono"/>
              </a:rPr>
              <a:t>LAZY</a:t>
            </a:r>
            <a:endParaRPr lang="en-US">
              <a:solidFill>
                <a:srgbClr val="A9B7C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4181550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899D-83A6-82E3-2D95-225D0902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2978E-7D7F-C3AF-3A19-2409786F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5576" y="2239346"/>
            <a:ext cx="9700104" cy="3629747"/>
          </a:xfrm>
        </p:spPr>
        <p:txBody>
          <a:bodyPr>
            <a:normAutofit/>
          </a:bodyPr>
          <a:lstStyle/>
          <a:p>
            <a:r>
              <a:rPr lang="en-US" sz="2400"/>
              <a:t>Hiberante Query Language</a:t>
            </a:r>
          </a:p>
          <a:p>
            <a:r>
              <a:rPr lang="en-US" sz="2400"/>
              <a:t>HQL translate to SQL</a:t>
            </a:r>
          </a:p>
          <a:p>
            <a:r>
              <a:rPr lang="en-US" sz="2400"/>
              <a:t>Các từ khóa như: select, from, where,… không phân biệt chữ hoa chữ thường</a:t>
            </a:r>
          </a:p>
          <a:p>
            <a:r>
              <a:rPr lang="en-US" sz="2400"/>
              <a:t>Tên table, tên thuộc tính, tên column phân biệt chữ hoa chữ thường</a:t>
            </a:r>
          </a:p>
          <a:p>
            <a:r>
              <a:rPr lang="en-US" sz="2400"/>
              <a:t>Có thể sử dụng với Java Object, Java Constructor, Java Varriable,…</a:t>
            </a:r>
          </a:p>
        </p:txBody>
      </p:sp>
    </p:spTree>
    <p:extLst>
      <p:ext uri="{BB962C8B-B14F-4D97-AF65-F5344CB8AC3E}">
        <p14:creationId xmlns:p14="http://schemas.microsoft.com/office/powerpoint/2010/main" val="28469120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4DF6A-4FA0-2037-DDCC-46363EA7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A19633DB-7834-148E-17E1-770CAE471A3B}"/>
              </a:ext>
            </a:extLst>
          </p:cNvPr>
          <p:cNvSpPr txBox="1">
            <a:spLocks/>
          </p:cNvSpPr>
          <p:nvPr/>
        </p:nvSpPr>
        <p:spPr>
          <a:xfrm>
            <a:off x="-1948256" y="-1852603"/>
            <a:ext cx="2891749" cy="874750"/>
          </a:xfrm>
          <a:prstGeom prst="rect">
            <a:avLst/>
          </a:prstGeom>
        </p:spPr>
        <p:txBody>
          <a:bodyPr>
            <a:norm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1pPr>
            <a:lvl2pPr marL="0" marR="0" indent="228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2pPr>
            <a:lvl3pPr marL="0" marR="0" indent="457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3pPr>
            <a:lvl4pPr marL="0" marR="0" indent="685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4pPr>
            <a:lvl5pPr marL="0" marR="0" indent="9144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5pPr>
            <a:lvl6pPr marL="0" marR="0" indent="11430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6pPr>
            <a:lvl7pPr marL="0" marR="0" indent="13716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7pPr>
            <a:lvl8pPr marL="0" marR="0" indent="16002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8pPr>
            <a:lvl9pPr marL="0" marR="0" indent="182880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Times New Roman" panose="02020603050405020304" pitchFamily="18" charset="0"/>
              </a:defRPr>
            </a:lvl9pPr>
          </a:lstStyle>
          <a:p>
            <a:pPr marL="428625" indent="-428625" hangingPunct="1">
              <a:buFont typeface="Wingdings" panose="05000000000000000000" pitchFamily="2" charset="2"/>
              <a:buChar char="Ø"/>
            </a:pPr>
            <a:r>
              <a:rPr lang="en-US" sz="1800" dirty="0"/>
              <a:t> Select </a:t>
            </a:r>
          </a:p>
          <a:p>
            <a:pPr marL="873125" lvl="1" indent="-428625" hangingPunct="1">
              <a:buFont typeface="Wingdings" panose="05000000000000000000" pitchFamily="2" charset="2"/>
              <a:buChar char="Ø"/>
            </a:pPr>
            <a:endParaRPr lang="en-US" sz="18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2E52B6C-F500-3344-2317-B8C15AD77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68574"/>
            <a:ext cx="7136444" cy="455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71259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C006-A183-8367-6355-F7CDC5B58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0D50E3-90BC-1F19-1933-95A013FCC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737" y="2072448"/>
            <a:ext cx="8367485" cy="441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40328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79F3-2939-BF87-E0A7-CB74593C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DFB19D-995F-7D3E-7142-D0EE71283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60" y="2081343"/>
            <a:ext cx="9693480" cy="4320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3084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E975-DA42-BF65-34B1-FDB481984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41F61B-5088-A96C-4031-4C36C07FF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01" y="2000057"/>
            <a:ext cx="9883997" cy="444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3164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8FB4E-9C2F-7374-5D72-34D24E6F5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A53AF6-D7BE-80BC-88DC-8F7727C64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586" y="1976139"/>
            <a:ext cx="8862828" cy="459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1311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C7687-9F99-C635-62E6-B9EFCE2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5642C-5286-3C4E-C1B6-832FBA0EE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5280" y="1923627"/>
            <a:ext cx="8981440" cy="1791546"/>
          </a:xfrm>
        </p:spPr>
        <p:txBody>
          <a:bodyPr/>
          <a:lstStyle/>
          <a:p>
            <a:r>
              <a:rPr lang="en-US"/>
              <a:t>Native SQL Query</a:t>
            </a:r>
          </a:p>
          <a:p>
            <a:r>
              <a:rPr lang="en-US"/>
              <a:t>Có thể sử dụng với SQL Field, SQL Table,… SQL</a:t>
            </a:r>
          </a:p>
          <a:p>
            <a:r>
              <a:rPr lang="en-US"/>
              <a:t>Call Function</a:t>
            </a:r>
          </a:p>
          <a:p>
            <a:r>
              <a:rPr lang="en-US"/>
              <a:t>Call Procedure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3F6F6E-BC88-B22F-640C-415B576F7275}"/>
              </a:ext>
            </a:extLst>
          </p:cNvPr>
          <p:cNvSpPr txBox="1"/>
          <p:nvPr/>
        </p:nvSpPr>
        <p:spPr>
          <a:xfrm>
            <a:off x="1605280" y="3901440"/>
            <a:ext cx="866648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List&lt;Product&gt; </a:t>
            </a:r>
            <a:r>
              <a:rPr lang="en-US" sz="1800">
                <a:solidFill>
                  <a:srgbClr val="FFC66D"/>
                </a:solidFill>
                <a:effectLst/>
                <a:latin typeface="JetBrains Mono"/>
              </a:rPr>
              <a:t>findProductsSQL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EntityManager em = </a:t>
            </a:r>
            <a:r>
              <a:rPr lang="en-US" sz="1800">
                <a:solidFill>
                  <a:srgbClr val="9876AA"/>
                </a:solidFill>
                <a:effectLst/>
                <a:latin typeface="JetBrains Mono"/>
              </a:rPr>
              <a:t>databaseUtils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.getEntityManager()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try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return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em.createNativeQuery(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"select * from products"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).getResultList()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catch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(Exception ex) {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throw new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RuntimeException(ex)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;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677131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58C-E800-0057-498E-736674B9F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 &amp;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A6604-7A19-C0DC-8150-4893A047A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5440" y="2255520"/>
            <a:ext cx="8981440" cy="3613574"/>
          </a:xfrm>
        </p:spPr>
        <p:txBody>
          <a:bodyPr>
            <a:normAutofit/>
          </a:bodyPr>
          <a:lstStyle/>
          <a:p>
            <a:r>
              <a:rPr lang="en-US" sz="2400">
                <a:solidFill>
                  <a:srgbClr val="FF0000"/>
                </a:solidFill>
              </a:rPr>
              <a:t>Nên sử dụng HQL hay SQL?</a:t>
            </a:r>
          </a:p>
        </p:txBody>
      </p:sp>
    </p:spTree>
    <p:extLst>
      <p:ext uri="{BB962C8B-B14F-4D97-AF65-F5344CB8AC3E}">
        <p14:creationId xmlns:p14="http://schemas.microsoft.com/office/powerpoint/2010/main" val="278579060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C622-4E90-BAEF-ACB5-6BAAD9102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 &amp; SQL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72219F-01FE-2A88-D75A-1BA2932E6715}"/>
              </a:ext>
            </a:extLst>
          </p:cNvPr>
          <p:cNvSpPr txBox="1"/>
          <p:nvPr/>
        </p:nvSpPr>
        <p:spPr>
          <a:xfrm>
            <a:off x="2844800" y="261726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rgbClr val="6A8759"/>
                </a:solidFill>
                <a:effectLst/>
                <a:latin typeface="JetBrains Mono"/>
              </a:rPr>
              <a:t>Select</a:t>
            </a:r>
            <a:r>
              <a:rPr lang="en-US" sz="2400">
                <a:solidFill>
                  <a:srgbClr val="6A8759"/>
                </a:solidFill>
                <a:latin typeface="JetBrains Mono"/>
              </a:rPr>
              <a:t> p from Product p</a:t>
            </a:r>
            <a:endParaRPr lang="en-US" sz="24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FF3AC-2C7A-7E73-92F9-85ECFB25C3C3}"/>
              </a:ext>
            </a:extLst>
          </p:cNvPr>
          <p:cNvSpPr txBox="1"/>
          <p:nvPr/>
        </p:nvSpPr>
        <p:spPr>
          <a:xfrm>
            <a:off x="2397760" y="210596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rgbClr val="6A8759"/>
                </a:solidFill>
                <a:effectLst/>
                <a:latin typeface="JetBrains Mono"/>
              </a:rPr>
              <a:t>HQL</a:t>
            </a:r>
            <a:endParaRPr lang="en-US" sz="2400">
              <a:solidFill>
                <a:srgbClr val="A9B7C6"/>
              </a:solidFill>
              <a:effectLst/>
              <a:latin typeface="JetBrains Mon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C36A9-FF24-C580-04F2-8CF30E0CAF71}"/>
              </a:ext>
            </a:extLst>
          </p:cNvPr>
          <p:cNvSpPr txBox="1"/>
          <p:nvPr/>
        </p:nvSpPr>
        <p:spPr>
          <a:xfrm>
            <a:off x="2397760" y="324433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rgbClr val="A9B7C6"/>
                </a:solidFill>
                <a:effectLst/>
                <a:latin typeface="JetBrains Mono"/>
              </a:rPr>
              <a:t>SQL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DA1D8B-A16E-99CE-BAA1-355646B1171B}"/>
              </a:ext>
            </a:extLst>
          </p:cNvPr>
          <p:cNvGrpSpPr/>
          <p:nvPr/>
        </p:nvGrpSpPr>
        <p:grpSpPr>
          <a:xfrm>
            <a:off x="2844800" y="3840480"/>
            <a:ext cx="7467600" cy="1254146"/>
            <a:chOff x="1473200" y="3244333"/>
            <a:chExt cx="7467600" cy="12541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5471B2-297F-BB63-F59A-4E7C1DD5B7A5}"/>
                </a:ext>
              </a:extLst>
            </p:cNvPr>
            <p:cNvSpPr txBox="1"/>
            <p:nvPr/>
          </p:nvSpPr>
          <p:spPr>
            <a:xfrm>
              <a:off x="2844800" y="3244334"/>
              <a:ext cx="60960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>
                  <a:solidFill>
                    <a:srgbClr val="6A8759"/>
                  </a:solidFill>
                  <a:latin typeface="JetBrains Mono"/>
                </a:rPr>
                <a:t>S</a:t>
              </a:r>
              <a:r>
                <a:rPr lang="en-US" sz="2400">
                  <a:solidFill>
                    <a:srgbClr val="6A8759"/>
                  </a:solidFill>
                  <a:effectLst/>
                  <a:latin typeface="JetBrains Mono"/>
                </a:rPr>
                <a:t>elect top 10 * from products</a:t>
              </a:r>
              <a:endParaRPr lang="en-US" sz="2400">
                <a:solidFill>
                  <a:srgbClr val="A9B7C6"/>
                </a:solidFill>
                <a:effectLst/>
                <a:latin typeface="JetBrains Mono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FD970A3-6C49-0652-91B4-15EE04C3D9C3}"/>
                </a:ext>
              </a:extLst>
            </p:cNvPr>
            <p:cNvSpPr txBox="1"/>
            <p:nvPr/>
          </p:nvSpPr>
          <p:spPr>
            <a:xfrm>
              <a:off x="2844800" y="4036814"/>
              <a:ext cx="60960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>
                  <a:solidFill>
                    <a:srgbClr val="6A8759"/>
                  </a:solidFill>
                  <a:latin typeface="JetBrains Mono"/>
                </a:rPr>
                <a:t>S</a:t>
              </a:r>
              <a:r>
                <a:rPr lang="en-US" sz="2400">
                  <a:solidFill>
                    <a:srgbClr val="6A8759"/>
                  </a:solidFill>
                  <a:effectLst/>
                  <a:latin typeface="JetBrains Mono"/>
                </a:rPr>
                <a:t>elect * from products limit 10</a:t>
              </a:r>
              <a:endParaRPr lang="en-US" sz="2400">
                <a:solidFill>
                  <a:srgbClr val="A9B7C6"/>
                </a:solidFill>
                <a:effectLst/>
                <a:latin typeface="JetBrains Mono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C7EFD9F-0F14-08BB-E935-E8FD5B839BBC}"/>
                </a:ext>
              </a:extLst>
            </p:cNvPr>
            <p:cNvSpPr txBox="1"/>
            <p:nvPr/>
          </p:nvSpPr>
          <p:spPr>
            <a:xfrm>
              <a:off x="1473200" y="3244333"/>
              <a:ext cx="13716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>
                  <a:solidFill>
                    <a:srgbClr val="A9B7C6"/>
                  </a:solidFill>
                  <a:effectLst/>
                  <a:latin typeface="JetBrains Mono"/>
                </a:rPr>
                <a:t>MS SQL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850358-C60C-36F8-501A-C44F44405EC5}"/>
                </a:ext>
              </a:extLst>
            </p:cNvPr>
            <p:cNvSpPr txBox="1"/>
            <p:nvPr/>
          </p:nvSpPr>
          <p:spPr>
            <a:xfrm>
              <a:off x="1473200" y="4036814"/>
              <a:ext cx="13716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>
                  <a:solidFill>
                    <a:srgbClr val="A9B7C6"/>
                  </a:solidFill>
                  <a:effectLst/>
                  <a:latin typeface="JetBrains Mono"/>
                </a:rPr>
                <a:t>MY SQL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450822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FEF-F793-56F4-CB19-3FA8516B6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HQL &amp; SQL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18F6E38-65D2-6664-B5BE-F94B591DC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352846"/>
              </p:ext>
            </p:extLst>
          </p:nvPr>
        </p:nvGraphicFramePr>
        <p:xfrm>
          <a:off x="1783080" y="2275840"/>
          <a:ext cx="8625840" cy="347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98">
                  <a:extLst>
                    <a:ext uri="{9D8B030D-6E8A-4147-A177-3AD203B41FA5}">
                      <a16:colId xmlns:a16="http://schemas.microsoft.com/office/drawing/2014/main" val="1942768430"/>
                    </a:ext>
                  </a:extLst>
                </a:gridCol>
                <a:gridCol w="3301962">
                  <a:extLst>
                    <a:ext uri="{9D8B030D-6E8A-4147-A177-3AD203B41FA5}">
                      <a16:colId xmlns:a16="http://schemas.microsoft.com/office/drawing/2014/main" val="640935444"/>
                    </a:ext>
                  </a:extLst>
                </a:gridCol>
                <a:gridCol w="3738880">
                  <a:extLst>
                    <a:ext uri="{9D8B030D-6E8A-4147-A177-3AD203B41FA5}">
                      <a16:colId xmlns:a16="http://schemas.microsoft.com/office/drawing/2014/main" val="34177753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2945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Tương thích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Có thể chạy trên nhiều database khác nhau, dễ dàng migrate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Chỉ chạy trên 1 database xác định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79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Tốc độ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Cần translate -&gt;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Không cần translate</a:t>
                      </a:r>
                    </a:p>
                    <a:p>
                      <a:r>
                        <a:rPr lang="en-US"/>
                        <a:t>Được thực thi trực tiếp bởi JDBC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2209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Không cần quan tâm đến tên table, tên column</a:t>
                      </a: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Cần quan tâm đến tên table, tên column</a:t>
                      </a:r>
                    </a:p>
                    <a:p>
                      <a:r>
                        <a:rPr lang="en-US"/>
                        <a:t>Khi thay đổi tên table, tên column cần phải thay đổi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474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Không phải query nào cũng thực 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Thực hiện được tất cả các câu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984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584489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74B59-46CD-3996-03F1-19C21C15D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@NamedQuery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2349D-DEE4-90EA-8E7E-B2DD6972371C}"/>
              </a:ext>
            </a:extLst>
          </p:cNvPr>
          <p:cNvSpPr txBox="1"/>
          <p:nvPr/>
        </p:nvSpPr>
        <p:spPr>
          <a:xfrm>
            <a:off x="2791797" y="2152966"/>
            <a:ext cx="6608406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@NamedQueries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@NamedQuery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    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"Product_FindProductByName"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 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query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"select p from Product p where name = :name"</a:t>
            </a:r>
            <a:br>
              <a:rPr lang="en-US" sz="1800">
                <a:solidFill>
                  <a:srgbClr val="6A875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@Data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@NoArgsConstructor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@RequiredArgsConstructor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@Entity</a:t>
            </a:r>
            <a:br>
              <a:rPr lang="en-US" sz="1800">
                <a:solidFill>
                  <a:srgbClr val="BBB529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@Table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"products"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public class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Product {</a:t>
            </a:r>
          </a:p>
        </p:txBody>
      </p:sp>
    </p:spTree>
    <p:extLst>
      <p:ext uri="{BB962C8B-B14F-4D97-AF65-F5344CB8AC3E}">
        <p14:creationId xmlns:p14="http://schemas.microsoft.com/office/powerpoint/2010/main" val="279096985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6FD84-C8FB-0FC0-1D05-2703D5C4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@NativeNamedQuery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734D46-BBD2-48AD-644C-EDACEA29CF66}"/>
              </a:ext>
            </a:extLst>
          </p:cNvPr>
          <p:cNvSpPr txBox="1"/>
          <p:nvPr/>
        </p:nvSpPr>
        <p:spPr>
          <a:xfrm>
            <a:off x="2042549" y="2899989"/>
            <a:ext cx="8106902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@NamedNativeQueries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BBB529"/>
                </a:solidFill>
                <a:effectLst/>
                <a:latin typeface="JetBrains Mono"/>
              </a:rPr>
              <a:t>@NamedNativeQuery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(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                name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"Product_SearchProduct"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query = </a:t>
            </a:r>
            <a:r>
              <a:rPr lang="en-US" sz="1800">
                <a:solidFill>
                  <a:srgbClr val="6A8759"/>
                </a:solidFill>
                <a:effectLst/>
                <a:latin typeface="JetBrains Mono"/>
              </a:rPr>
              <a:t>"select * from products where lower(name) like :name or id = :id"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,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resultClass = Product.</a:t>
            </a: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class</a:t>
            </a:r>
            <a:br>
              <a:rPr lang="en-US" sz="1800">
                <a:solidFill>
                  <a:srgbClr val="CC7832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CC7832"/>
                </a:solidFill>
                <a:effectLst/>
                <a:latin typeface="JetBrains Mono"/>
              </a:rPr>
              <a:t>        </a:t>
            </a: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  <a:br>
              <a:rPr lang="en-US" sz="1800">
                <a:solidFill>
                  <a:srgbClr val="A9B7C6"/>
                </a:solidFill>
                <a:effectLst/>
                <a:latin typeface="JetBrains Mono"/>
              </a:rPr>
            </a:br>
            <a:r>
              <a:rPr lang="en-US" sz="1800">
                <a:solidFill>
                  <a:srgbClr val="A9B7C6"/>
                </a:solidFill>
                <a:effectLst/>
                <a:latin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123366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86198-7D72-0BAD-A9CF-0D95DC8D7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Named Query &amp; Normal Query</a:t>
            </a:r>
          </a:p>
        </p:txBody>
      </p:sp>
    </p:spTree>
    <p:extLst>
      <p:ext uri="{BB962C8B-B14F-4D97-AF65-F5344CB8AC3E}">
        <p14:creationId xmlns:p14="http://schemas.microsoft.com/office/powerpoint/2010/main" val="346210840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240A2FC-E2C3-458D-96B4-5DF9028D9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097929-F3D6-4D1F-8AFC-CF348171A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074C91-9045-414B-B5F9-567DAE3EE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779F603-B669-4AD6-82F9-E09F76165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434B2-1CC6-23F1-C3EA-78B51FD20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754" y="639097"/>
            <a:ext cx="6253317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Thank You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BFD994-C2DC-4E7D-9411-C7FF7813E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C0D1FC6-352C-4C7D-825F-C4E2F6A805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1AFC2C-CD98-4478-AB71-1A864026D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8526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2286</TotalTime>
  <Words>7801</Words>
  <Application>Microsoft Office PowerPoint</Application>
  <PresentationFormat>Widescreen</PresentationFormat>
  <Paragraphs>334</Paragraphs>
  <Slides>123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1" baseType="lpstr">
      <vt:lpstr>Arial</vt:lpstr>
      <vt:lpstr>Calibri</vt:lpstr>
      <vt:lpstr>Calibri Light</vt:lpstr>
      <vt:lpstr>Courier New</vt:lpstr>
      <vt:lpstr>JetBrains Mono</vt:lpstr>
      <vt:lpstr>Times New Roman</vt:lpstr>
      <vt:lpstr>Wingdings</vt:lpstr>
      <vt:lpstr>Retrospect</vt:lpstr>
      <vt:lpstr>Advanced Java</vt:lpstr>
      <vt:lpstr>Enum</vt:lpstr>
      <vt:lpstr>Enum</vt:lpstr>
      <vt:lpstr>Enum - Enumerated()</vt:lpstr>
      <vt:lpstr>Enum – Enumerated()</vt:lpstr>
      <vt:lpstr>Enum - @Enumerated(EnumType.ORDINAL) </vt:lpstr>
      <vt:lpstr>Enum – Enumeration(EnumType.STRING)</vt:lpstr>
      <vt:lpstr>Enum – Enumeration(EnumType.STRING)</vt:lpstr>
      <vt:lpstr>ORDINAL hay STRING?</vt:lpstr>
      <vt:lpstr>Generator</vt:lpstr>
      <vt:lpstr>Generator IDENTITY</vt:lpstr>
      <vt:lpstr>Generator IDENTITY</vt:lpstr>
      <vt:lpstr>Generator IDENTITY</vt:lpstr>
      <vt:lpstr>Delete Item IDENTITY</vt:lpstr>
      <vt:lpstr>Generator UUID</vt:lpstr>
      <vt:lpstr>Generator UUID</vt:lpstr>
      <vt:lpstr>Generator Auto</vt:lpstr>
      <vt:lpstr>Generator SEQUENCE</vt:lpstr>
      <vt:lpstr>Generator SEQUENCE</vt:lpstr>
      <vt:lpstr>Generator SEQUENCE</vt:lpstr>
      <vt:lpstr>Generator SEQUENCE</vt:lpstr>
      <vt:lpstr>Generator Custom</vt:lpstr>
      <vt:lpstr>Generator Custom</vt:lpstr>
      <vt:lpstr>Generator</vt:lpstr>
      <vt:lpstr>Primary Key</vt:lpstr>
      <vt:lpstr>Primary Key – Single</vt:lpstr>
      <vt:lpstr>Primary Key – Single</vt:lpstr>
      <vt:lpstr>Primary Key - Multiple</vt:lpstr>
      <vt:lpstr>Multiple Primary Key</vt:lpstr>
      <vt:lpstr>Multiple Primary Key</vt:lpstr>
      <vt:lpstr>Multiple Primary Key</vt:lpstr>
      <vt:lpstr>Multiple Primary Key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EmbeddedId</vt:lpstr>
      <vt:lpstr>Multiple Primary Key - IdClass</vt:lpstr>
      <vt:lpstr>Multiple Primary Key - IdClass</vt:lpstr>
      <vt:lpstr>Multiple Primary Key - IdClass</vt:lpstr>
      <vt:lpstr>Multiple Primary Key - IdClass</vt:lpstr>
      <vt:lpstr>EmbeddedId &amp; IdClass</vt:lpstr>
      <vt:lpstr>One - One</vt:lpstr>
      <vt:lpstr>One – One | 1 Way</vt:lpstr>
      <vt:lpstr>One – One | 1 Way</vt:lpstr>
      <vt:lpstr>One – One | 1 Way</vt:lpstr>
      <vt:lpstr>One – One | 2 Way</vt:lpstr>
      <vt:lpstr>One – One | 2 Way</vt:lpstr>
      <vt:lpstr>One – One | 2 Way</vt:lpstr>
      <vt:lpstr>One – One | 2 Way</vt:lpstr>
      <vt:lpstr>One - Many</vt:lpstr>
      <vt:lpstr>One - Many</vt:lpstr>
      <vt:lpstr>One - Many</vt:lpstr>
      <vt:lpstr>One - Many</vt:lpstr>
      <vt:lpstr>One - Many</vt:lpstr>
      <vt:lpstr>One - Many</vt:lpstr>
      <vt:lpstr>One - Many</vt:lpstr>
      <vt:lpstr>One – Many Collection</vt:lpstr>
      <vt:lpstr>One – Many Collection</vt:lpstr>
      <vt:lpstr>One – Many Collection</vt:lpstr>
      <vt:lpstr>One – Many Collection</vt:lpstr>
      <vt:lpstr>Many - Many</vt:lpstr>
      <vt:lpstr>Many – Many | @ManyToMany</vt:lpstr>
      <vt:lpstr>Many – Many |@ManyToMany</vt:lpstr>
      <vt:lpstr>Many – Many | @ManyToMany</vt:lpstr>
      <vt:lpstr>Many – Many | @ManyToMany</vt:lpstr>
      <vt:lpstr>Many – Many | @ManyToMany</vt:lpstr>
      <vt:lpstr>Many – Many</vt:lpstr>
      <vt:lpstr>Many – Many</vt:lpstr>
      <vt:lpstr>Many - Many</vt:lpstr>
      <vt:lpstr>Many - Many</vt:lpstr>
      <vt:lpstr>Many - Many</vt:lpstr>
      <vt:lpstr>Many - Many</vt:lpstr>
      <vt:lpstr>Many - Many</vt:lpstr>
      <vt:lpstr>Many - Many</vt:lpstr>
      <vt:lpstr>Many - Many</vt:lpstr>
      <vt:lpstr>Many - Many</vt:lpstr>
      <vt:lpstr>Many – Many | Independent Id</vt:lpstr>
      <vt:lpstr>Many - Billion</vt:lpstr>
      <vt:lpstr>Inheritance</vt:lpstr>
      <vt:lpstr>Inheritance | Joined</vt:lpstr>
      <vt:lpstr>Inheritance |Joined</vt:lpstr>
      <vt:lpstr>Inheritance | Joined</vt:lpstr>
      <vt:lpstr>Inheritance | Joined</vt:lpstr>
      <vt:lpstr>Inheritance | Joined</vt:lpstr>
      <vt:lpstr>Inheritance | Single Table</vt:lpstr>
      <vt:lpstr>Inheritance | Single Table</vt:lpstr>
      <vt:lpstr>Inheritance | Single Table</vt:lpstr>
      <vt:lpstr>Inheritance</vt:lpstr>
      <vt:lpstr>Inheritance | Single Table</vt:lpstr>
      <vt:lpstr>Inheritance | Single Table</vt:lpstr>
      <vt:lpstr>Inheritance | Table Per Class</vt:lpstr>
      <vt:lpstr>Inheritance | Table Per Class</vt:lpstr>
      <vt:lpstr>Inheritance | Table Per Class</vt:lpstr>
      <vt:lpstr>Inheritance | Table Per Class</vt:lpstr>
      <vt:lpstr>Inheritance | MappedSuperclass</vt:lpstr>
      <vt:lpstr>Inheritance | MappedSuperclass</vt:lpstr>
      <vt:lpstr>Inheritance | MappedSuperclass</vt:lpstr>
      <vt:lpstr>Inheritance | MappedSuperclass</vt:lpstr>
      <vt:lpstr>Table Per Class vs MappedSupperclass</vt:lpstr>
      <vt:lpstr>Fetch</vt:lpstr>
      <vt:lpstr>HQL</vt:lpstr>
      <vt:lpstr>HQL</vt:lpstr>
      <vt:lpstr>HQL</vt:lpstr>
      <vt:lpstr>HQL</vt:lpstr>
      <vt:lpstr>HQL</vt:lpstr>
      <vt:lpstr>HQL</vt:lpstr>
      <vt:lpstr>SQL</vt:lpstr>
      <vt:lpstr>HQL &amp; SQL</vt:lpstr>
      <vt:lpstr>HQL &amp; SQL</vt:lpstr>
      <vt:lpstr>HQL &amp; SQL</vt:lpstr>
      <vt:lpstr>@NamedQuery</vt:lpstr>
      <vt:lpstr>@NativeNamedQuery</vt:lpstr>
      <vt:lpstr>Named Query &amp; Normal Query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Java</dc:title>
  <dc:creator>Thanh Tâm Nguyễn</dc:creator>
  <cp:lastModifiedBy>Thanh Tâm Nguyễn</cp:lastModifiedBy>
  <cp:revision>25</cp:revision>
  <dcterms:created xsi:type="dcterms:W3CDTF">2023-09-13T09:20:03Z</dcterms:created>
  <dcterms:modified xsi:type="dcterms:W3CDTF">2023-09-22T04:32:33Z</dcterms:modified>
</cp:coreProperties>
</file>